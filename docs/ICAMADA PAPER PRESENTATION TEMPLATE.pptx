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xSn3dAprZs7J93MQNqd/sDuuR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f4f00742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2cf4f00742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f5e3f3cf2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26f5e3f3cf2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6f5e3f3cf2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26f5e3f3cf2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f5e3f3cf2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26f5e3f3cf2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f771519f9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26f771519f9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cfb69986e0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2cfb69986e0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cf4f00742c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2cf4f00742c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cf4f00742c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2cf4f00742c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cfb69986e0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2cfb69986e0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6f771519f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26f771519f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f771519f9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26f771519f9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5"/>
          <p:cNvSpPr/>
          <p:nvPr>
            <p:ph idx="2" type="pic"/>
          </p:nvPr>
        </p:nvSpPr>
        <p:spPr>
          <a:xfrm>
            <a:off x="5183188" y="987425"/>
            <a:ext cx="6172200" cy="4873625"/>
          </a:xfrm>
          <a:prstGeom prst="rect">
            <a:avLst/>
          </a:prstGeom>
          <a:noFill/>
          <a:ln>
            <a:noFill/>
          </a:ln>
        </p:spPr>
      </p:sp>
      <p:sp>
        <p:nvSpPr>
          <p:cNvPr id="68" name="Google Shape;68;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9.png"/><Relationship Id="rId8"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doi.org/10.1016/j.cageo.2020.10452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4362450" y="260350"/>
            <a:ext cx="3416300" cy="939800"/>
          </a:xfrm>
          <a:prstGeom prst="ellipse">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9" name="Google Shape;89;p1"/>
          <p:cNvPicPr preferRelativeResize="0"/>
          <p:nvPr/>
        </p:nvPicPr>
        <p:blipFill rotWithShape="1">
          <a:blip r:embed="rId3">
            <a:alphaModFix/>
          </a:blip>
          <a:srcRect b="0" l="0" r="0" t="0"/>
          <a:stretch/>
        </p:blipFill>
        <p:spPr>
          <a:xfrm>
            <a:off x="-263906" y="-364846"/>
            <a:ext cx="13347297" cy="7369645"/>
          </a:xfrm>
          <a:prstGeom prst="rect">
            <a:avLst/>
          </a:prstGeom>
          <a:noFill/>
          <a:ln cap="sq" cmpd="sng" w="76200">
            <a:solidFill>
              <a:srgbClr val="1E4E79"/>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90" name="Google Shape;90;p1"/>
          <p:cNvSpPr txBox="1"/>
          <p:nvPr/>
        </p:nvSpPr>
        <p:spPr>
          <a:xfrm>
            <a:off x="813" y="1895771"/>
            <a:ext cx="12599100" cy="1446900"/>
          </a:xfrm>
          <a:prstGeom prst="rect">
            <a:avLst/>
          </a:prstGeom>
          <a:solidFill>
            <a:srgbClr val="D8E2F3"/>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4400" u="none" cap="none" strike="noStrike">
                <a:solidFill>
                  <a:schemeClr val="dk1"/>
                </a:solidFill>
                <a:latin typeface="Calibri"/>
                <a:ea typeface="Calibri"/>
                <a:cs typeface="Calibri"/>
                <a:sym typeface="Calibri"/>
              </a:rPr>
              <a:t>                   </a:t>
            </a:r>
            <a:r>
              <a:rPr b="1" lang="en-IN" sz="4400">
                <a:solidFill>
                  <a:schemeClr val="dk1"/>
                </a:solidFill>
                <a:latin typeface="Calibri"/>
                <a:ea typeface="Calibri"/>
                <a:cs typeface="Calibri"/>
                <a:sym typeface="Calibri"/>
              </a:rPr>
              <a:t>GeoLens - Enhanced Geo Dataset Orchestration Library for Pythonic Implementation</a:t>
            </a:r>
            <a:endParaRPr/>
          </a:p>
        </p:txBody>
      </p:sp>
      <p:sp>
        <p:nvSpPr>
          <p:cNvPr id="91" name="Google Shape;91;p1"/>
          <p:cNvSpPr txBox="1"/>
          <p:nvPr/>
        </p:nvSpPr>
        <p:spPr>
          <a:xfrm>
            <a:off x="4254087" y="183375"/>
            <a:ext cx="4092600" cy="708000"/>
          </a:xfrm>
          <a:prstGeom prst="rect">
            <a:avLst/>
          </a:prstGeom>
          <a:noFill/>
          <a:ln cap="flat" cmpd="sng" w="9525">
            <a:solidFill>
              <a:srgbClr val="1E4E7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000">
                <a:solidFill>
                  <a:schemeClr val="accent1"/>
                </a:solidFill>
                <a:latin typeface="Arial"/>
                <a:ea typeface="Arial"/>
                <a:cs typeface="Arial"/>
                <a:sym typeface="Arial"/>
              </a:rPr>
              <a:t>ICAMADA 2024</a:t>
            </a:r>
            <a:endParaRPr/>
          </a:p>
        </p:txBody>
      </p:sp>
      <p:pic>
        <p:nvPicPr>
          <p:cNvPr id="92" name="Google Shape;92;p1"/>
          <p:cNvPicPr preferRelativeResize="0"/>
          <p:nvPr/>
        </p:nvPicPr>
        <p:blipFill rotWithShape="1">
          <a:blip r:embed="rId4">
            <a:alphaModFix/>
          </a:blip>
          <a:srcRect b="0" l="0" r="0" t="0"/>
          <a:stretch/>
        </p:blipFill>
        <p:spPr>
          <a:xfrm>
            <a:off x="11483053" y="-131159"/>
            <a:ext cx="1199687" cy="1199687"/>
          </a:xfrm>
          <a:prstGeom prst="rect">
            <a:avLst/>
          </a:prstGeom>
          <a:noFill/>
          <a:ln>
            <a:noFill/>
          </a:ln>
        </p:spPr>
      </p:pic>
      <p:pic>
        <p:nvPicPr>
          <p:cNvPr id="93" name="Google Shape;93;p1"/>
          <p:cNvPicPr preferRelativeResize="0"/>
          <p:nvPr/>
        </p:nvPicPr>
        <p:blipFill rotWithShape="1">
          <a:blip r:embed="rId5">
            <a:alphaModFix/>
          </a:blip>
          <a:srcRect b="0" l="0" r="0" t="0"/>
          <a:stretch/>
        </p:blipFill>
        <p:spPr>
          <a:xfrm>
            <a:off x="0" y="0"/>
            <a:ext cx="1117600" cy="1245262"/>
          </a:xfrm>
          <a:prstGeom prst="rect">
            <a:avLst/>
          </a:prstGeom>
          <a:noFill/>
          <a:ln>
            <a:noFill/>
          </a:ln>
        </p:spPr>
      </p:pic>
      <p:pic>
        <p:nvPicPr>
          <p:cNvPr id="94" name="Google Shape;94;p1"/>
          <p:cNvPicPr preferRelativeResize="0"/>
          <p:nvPr/>
        </p:nvPicPr>
        <p:blipFill rotWithShape="1">
          <a:blip r:embed="rId6">
            <a:alphaModFix/>
          </a:blip>
          <a:srcRect b="0" l="0" r="0" t="0"/>
          <a:stretch/>
        </p:blipFill>
        <p:spPr>
          <a:xfrm>
            <a:off x="4620588" y="1068515"/>
            <a:ext cx="1406513" cy="608482"/>
          </a:xfrm>
          <a:prstGeom prst="rect">
            <a:avLst/>
          </a:prstGeom>
          <a:noFill/>
          <a:ln>
            <a:noFill/>
          </a:ln>
        </p:spPr>
      </p:pic>
      <p:pic>
        <p:nvPicPr>
          <p:cNvPr id="95" name="Google Shape;95;p1"/>
          <p:cNvPicPr preferRelativeResize="0"/>
          <p:nvPr/>
        </p:nvPicPr>
        <p:blipFill rotWithShape="1">
          <a:blip r:embed="rId7">
            <a:alphaModFix/>
          </a:blip>
          <a:srcRect b="30254" l="0" r="0" t="27696"/>
          <a:stretch/>
        </p:blipFill>
        <p:spPr>
          <a:xfrm>
            <a:off x="6477935" y="1124067"/>
            <a:ext cx="1406511" cy="497397"/>
          </a:xfrm>
          <a:prstGeom prst="rect">
            <a:avLst/>
          </a:prstGeom>
          <a:noFill/>
          <a:ln>
            <a:noFill/>
          </a:ln>
        </p:spPr>
      </p:pic>
      <p:sp>
        <p:nvSpPr>
          <p:cNvPr id="96" name="Google Shape;96;p1"/>
          <p:cNvSpPr/>
          <p:nvPr/>
        </p:nvSpPr>
        <p:spPr>
          <a:xfrm>
            <a:off x="83650" y="3700125"/>
            <a:ext cx="12599100" cy="1446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 name="Google Shape;97;p1"/>
          <p:cNvSpPr txBox="1"/>
          <p:nvPr/>
        </p:nvSpPr>
        <p:spPr>
          <a:xfrm>
            <a:off x="626250" y="3889425"/>
            <a:ext cx="10685700" cy="10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1800">
                <a:solidFill>
                  <a:srgbClr val="351C75"/>
                </a:solidFill>
                <a:latin typeface="Georgia"/>
                <a:ea typeface="Georgia"/>
                <a:cs typeface="Georgia"/>
                <a:sym typeface="Georgia"/>
              </a:rPr>
              <a:t>Authors: Janavi Nathwani, Samvram Sahu, Jayasri PV, Usha sundari HSV Rayali,   </a:t>
            </a:r>
            <a:endParaRPr b="1" sz="1800">
              <a:solidFill>
                <a:srgbClr val="351C75"/>
              </a:solidFill>
              <a:latin typeface="Georgia"/>
              <a:ea typeface="Georgia"/>
              <a:cs typeface="Georgia"/>
              <a:sym typeface="Georgia"/>
            </a:endParaRPr>
          </a:p>
          <a:p>
            <a:pPr indent="0" lvl="0" marL="0" rtl="0" algn="l">
              <a:spcBef>
                <a:spcPts val="0"/>
              </a:spcBef>
              <a:spcAft>
                <a:spcPts val="0"/>
              </a:spcAft>
              <a:buNone/>
            </a:pPr>
            <a:r>
              <a:rPr b="1" lang="en-IN" sz="1800">
                <a:solidFill>
                  <a:srgbClr val="351C75"/>
                </a:solidFill>
                <a:latin typeface="Georgia"/>
                <a:ea typeface="Georgia"/>
                <a:cs typeface="Georgia"/>
                <a:sym typeface="Georgia"/>
              </a:rPr>
              <a:t>                   </a:t>
            </a:r>
            <a:r>
              <a:rPr b="1" lang="en-IN" sz="1800">
                <a:solidFill>
                  <a:srgbClr val="351C75"/>
                </a:solidFill>
                <a:latin typeface="Georgia"/>
                <a:ea typeface="Georgia"/>
                <a:cs typeface="Georgia"/>
                <a:sym typeface="Georgia"/>
              </a:rPr>
              <a:t>Yerragudipadu Subbarayudu</a:t>
            </a:r>
            <a:endParaRPr b="1" sz="1800">
              <a:solidFill>
                <a:srgbClr val="351C75"/>
              </a:solidFill>
              <a:latin typeface="Georgia"/>
              <a:ea typeface="Georgia"/>
              <a:cs typeface="Georgia"/>
              <a:sym typeface="Georgia"/>
            </a:endParaRPr>
          </a:p>
        </p:txBody>
      </p:sp>
      <p:sp>
        <p:nvSpPr>
          <p:cNvPr id="98" name="Google Shape;98;p1"/>
          <p:cNvSpPr txBox="1"/>
          <p:nvPr/>
        </p:nvSpPr>
        <p:spPr>
          <a:xfrm>
            <a:off x="4860050" y="6309950"/>
            <a:ext cx="736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99" name="Google Shape;99;p1"/>
          <p:cNvSpPr txBox="1"/>
          <p:nvPr/>
        </p:nvSpPr>
        <p:spPr>
          <a:xfrm>
            <a:off x="5901525" y="5147025"/>
            <a:ext cx="6889500" cy="189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1800">
                <a:solidFill>
                  <a:srgbClr val="990000"/>
                </a:solidFill>
                <a:latin typeface="Calibri"/>
                <a:ea typeface="Calibri"/>
                <a:cs typeface="Calibri"/>
                <a:sym typeface="Calibri"/>
              </a:rPr>
              <a:t>Presented By</a:t>
            </a:r>
            <a:r>
              <a:rPr lang="en-IN" sz="1800">
                <a:solidFill>
                  <a:schemeClr val="dk1"/>
                </a:solidFill>
                <a:latin typeface="Calibri"/>
                <a:ea typeface="Calibri"/>
                <a:cs typeface="Calibri"/>
                <a:sym typeface="Calibri"/>
              </a:rPr>
              <a:t>:  </a:t>
            </a:r>
            <a:r>
              <a:rPr b="1" lang="en-IN" sz="2100">
                <a:solidFill>
                  <a:srgbClr val="351C75"/>
                </a:solidFill>
                <a:latin typeface="Calibri"/>
                <a:ea typeface="Calibri"/>
                <a:cs typeface="Calibri"/>
                <a:sym typeface="Calibri"/>
              </a:rPr>
              <a:t>Janavi Nathwani</a:t>
            </a:r>
            <a:endParaRPr b="1" sz="2100">
              <a:solidFill>
                <a:srgbClr val="351C75"/>
              </a:solidFill>
              <a:latin typeface="Calibri"/>
              <a:ea typeface="Calibri"/>
              <a:cs typeface="Calibri"/>
              <a:sym typeface="Calibri"/>
            </a:endParaRPr>
          </a:p>
          <a:p>
            <a:pPr indent="-342900" lvl="0" marL="1371600" rtl="0" algn="l">
              <a:spcBef>
                <a:spcPts val="0"/>
              </a:spcBef>
              <a:spcAft>
                <a:spcPts val="0"/>
              </a:spcAft>
              <a:buClr>
                <a:srgbClr val="0B5394"/>
              </a:buClr>
              <a:buSzPts val="1800"/>
              <a:buFont typeface="Calibri"/>
              <a:buChar char="-"/>
            </a:pPr>
            <a:r>
              <a:rPr b="1" lang="en-IN" sz="1800">
                <a:solidFill>
                  <a:srgbClr val="0B5394"/>
                </a:solidFill>
                <a:latin typeface="Calibri"/>
                <a:ea typeface="Calibri"/>
                <a:cs typeface="Calibri"/>
                <a:sym typeface="Calibri"/>
              </a:rPr>
              <a:t>B.Tech 4th year,</a:t>
            </a:r>
            <a:endParaRPr b="1" sz="1800">
              <a:solidFill>
                <a:srgbClr val="0B5394"/>
              </a:solidFill>
              <a:latin typeface="Calibri"/>
              <a:ea typeface="Calibri"/>
              <a:cs typeface="Calibri"/>
              <a:sym typeface="Calibri"/>
            </a:endParaRPr>
          </a:p>
          <a:p>
            <a:pPr indent="457200" lvl="0" marL="457200" rtl="0" algn="l">
              <a:spcBef>
                <a:spcPts val="0"/>
              </a:spcBef>
              <a:spcAft>
                <a:spcPts val="0"/>
              </a:spcAft>
              <a:buNone/>
            </a:pPr>
            <a:r>
              <a:rPr b="1" lang="en-IN" sz="1800">
                <a:solidFill>
                  <a:srgbClr val="0B5394"/>
                </a:solidFill>
                <a:latin typeface="Calibri"/>
                <a:ea typeface="Calibri"/>
                <a:cs typeface="Calibri"/>
                <a:sym typeface="Calibri"/>
              </a:rPr>
              <a:t>   -     </a:t>
            </a:r>
            <a:r>
              <a:rPr b="1" lang="en-IN" sz="1800">
                <a:solidFill>
                  <a:srgbClr val="0B5394"/>
                </a:solidFill>
                <a:latin typeface="Calibri"/>
                <a:ea typeface="Calibri"/>
                <a:cs typeface="Calibri"/>
                <a:sym typeface="Calibri"/>
              </a:rPr>
              <a:t>Department of Computer Science Engineering - Ai&amp;Ml</a:t>
            </a:r>
            <a:endParaRPr b="1" sz="1800">
              <a:solidFill>
                <a:srgbClr val="0B5394"/>
              </a:solidFill>
              <a:latin typeface="Calibri"/>
              <a:ea typeface="Calibri"/>
              <a:cs typeface="Calibri"/>
              <a:sym typeface="Calibri"/>
            </a:endParaRPr>
          </a:p>
          <a:p>
            <a:pPr indent="0" lvl="0" marL="914400" rtl="0" algn="l">
              <a:spcBef>
                <a:spcPts val="0"/>
              </a:spcBef>
              <a:spcAft>
                <a:spcPts val="0"/>
              </a:spcAft>
              <a:buNone/>
            </a:pPr>
            <a:r>
              <a:rPr b="1" lang="en-IN" sz="1800">
                <a:solidFill>
                  <a:srgbClr val="0B5394"/>
                </a:solidFill>
                <a:latin typeface="Calibri"/>
                <a:ea typeface="Calibri"/>
                <a:cs typeface="Calibri"/>
                <a:sym typeface="Calibri"/>
              </a:rPr>
              <a:t>   -     KG Reddy College of Engineering and Technology </a:t>
            </a:r>
            <a:endParaRPr b="1" sz="1800">
              <a:solidFill>
                <a:srgbClr val="0B5394"/>
              </a:solidFill>
              <a:latin typeface="Calibri"/>
              <a:ea typeface="Calibri"/>
              <a:cs typeface="Calibri"/>
              <a:sym typeface="Calibri"/>
            </a:endParaRPr>
          </a:p>
          <a:p>
            <a:pPr indent="0" lvl="0" marL="1371600" rtl="0" algn="l">
              <a:spcBef>
                <a:spcPts val="0"/>
              </a:spcBef>
              <a:spcAft>
                <a:spcPts val="0"/>
              </a:spcAft>
              <a:buNone/>
            </a:pPr>
            <a:r>
              <a:t/>
            </a:r>
            <a:endParaRPr sz="1800">
              <a:solidFill>
                <a:schemeClr val="dk1"/>
              </a:solidFill>
              <a:latin typeface="Calibri"/>
              <a:ea typeface="Calibri"/>
              <a:cs typeface="Calibri"/>
              <a:sym typeface="Calibri"/>
            </a:endParaRPr>
          </a:p>
          <a:p>
            <a:pPr indent="0" lvl="0" marL="137160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03" name="Shape 103"/>
        <p:cNvGrpSpPr/>
        <p:nvPr/>
      </p:nvGrpSpPr>
      <p:grpSpPr>
        <a:xfrm>
          <a:off x="0" y="0"/>
          <a:ext cx="0" cy="0"/>
          <a:chOff x="0" y="0"/>
          <a:chExt cx="0" cy="0"/>
        </a:xfrm>
      </p:grpSpPr>
      <p:pic>
        <p:nvPicPr>
          <p:cNvPr id="104" name="Google Shape;104;g2cf4f00742c_0_0"/>
          <p:cNvPicPr preferRelativeResize="0"/>
          <p:nvPr/>
        </p:nvPicPr>
        <p:blipFill rotWithShape="1">
          <a:blip r:embed="rId3">
            <a:alphaModFix/>
          </a:blip>
          <a:srcRect b="0" l="0" r="0" t="0"/>
          <a:stretch/>
        </p:blipFill>
        <p:spPr>
          <a:xfrm>
            <a:off x="94342" y="812799"/>
            <a:ext cx="12046854" cy="5980618"/>
          </a:xfrm>
          <a:prstGeom prst="rect">
            <a:avLst/>
          </a:prstGeom>
          <a:noFill/>
          <a:ln>
            <a:noFill/>
          </a:ln>
        </p:spPr>
      </p:pic>
      <p:sp>
        <p:nvSpPr>
          <p:cNvPr id="105" name="Google Shape;105;g2cf4f00742c_0_0"/>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06" name="Google Shape;106;g2cf4f00742c_0_0"/>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07" name="Google Shape;107;g2cf4f00742c_0_0"/>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08" name="Google Shape;108;g2cf4f00742c_0_0"/>
          <p:cNvSpPr txBox="1"/>
          <p:nvPr/>
        </p:nvSpPr>
        <p:spPr>
          <a:xfrm>
            <a:off x="511628" y="1429657"/>
            <a:ext cx="10584600" cy="5756700"/>
          </a:xfrm>
          <a:prstGeom prst="rect">
            <a:avLst/>
          </a:prstGeom>
          <a:noFill/>
          <a:ln>
            <a:noFill/>
          </a:ln>
        </p:spPr>
        <p:txBody>
          <a:bodyPr anchorCtr="0" anchor="t" bIns="45700" lIns="91425" spcFirstLastPara="1" rIns="91425" wrap="square" tIns="45700">
            <a:spAutoFit/>
          </a:bodyPr>
          <a:lstStyle/>
          <a:p>
            <a:pPr indent="-82550" lvl="0" marL="82550" marR="6350" rtl="0" algn="just">
              <a:lnSpc>
                <a:spcPct val="150000"/>
              </a:lnSpc>
              <a:spcBef>
                <a:spcPts val="0"/>
              </a:spcBef>
              <a:spcAft>
                <a:spcPts val="0"/>
              </a:spcAft>
              <a:buNone/>
            </a:pPr>
            <a:r>
              <a:rPr lang="en-IN" sz="3200">
                <a:solidFill>
                  <a:srgbClr val="000000"/>
                </a:solidFill>
                <a:latin typeface="Times New Roman"/>
                <a:ea typeface="Times New Roman"/>
                <a:cs typeface="Times New Roman"/>
                <a:sym typeface="Times New Roman"/>
              </a:rPr>
              <a:t>Abstract </a:t>
            </a:r>
            <a:endParaRPr/>
          </a:p>
          <a:p>
            <a:pPr indent="-82550" lvl="0" marL="82550" marR="6350" rtl="0" algn="just">
              <a:lnSpc>
                <a:spcPct val="150000"/>
              </a:lnSpc>
              <a:spcBef>
                <a:spcPts val="0"/>
              </a:spcBef>
              <a:spcAft>
                <a:spcPts val="0"/>
              </a:spcAft>
              <a:buNone/>
            </a:pPr>
            <a:r>
              <a:rPr lang="en-IN" sz="3200">
                <a:solidFill>
                  <a:srgbClr val="000000"/>
                </a:solidFill>
                <a:latin typeface="Times New Roman"/>
                <a:ea typeface="Times New Roman"/>
                <a:cs typeface="Times New Roman"/>
                <a:sym typeface="Times New Roman"/>
              </a:rPr>
              <a:t>Introduction </a:t>
            </a:r>
            <a:endParaRPr sz="3200">
              <a:solidFill>
                <a:srgbClr val="000000"/>
              </a:solidFill>
              <a:latin typeface="Times New Roman"/>
              <a:ea typeface="Times New Roman"/>
              <a:cs typeface="Times New Roman"/>
              <a:sym typeface="Times New Roman"/>
            </a:endParaRPr>
          </a:p>
          <a:p>
            <a:pPr indent="-82550" lvl="0" marL="82550" marR="6350" rtl="0" algn="just">
              <a:lnSpc>
                <a:spcPct val="150000"/>
              </a:lnSpc>
              <a:spcBef>
                <a:spcPts val="0"/>
              </a:spcBef>
              <a:spcAft>
                <a:spcPts val="0"/>
              </a:spcAft>
              <a:buNone/>
            </a:pPr>
            <a:r>
              <a:rPr lang="en-IN" sz="3200">
                <a:solidFill>
                  <a:srgbClr val="000000"/>
                </a:solidFill>
                <a:latin typeface="Times New Roman"/>
                <a:ea typeface="Times New Roman"/>
                <a:cs typeface="Times New Roman"/>
                <a:sym typeface="Times New Roman"/>
              </a:rPr>
              <a:t>Problem statement </a:t>
            </a:r>
            <a:endParaRPr/>
          </a:p>
          <a:p>
            <a:pPr indent="-82550" lvl="0" marL="82550" marR="6350" rtl="0" algn="just">
              <a:lnSpc>
                <a:spcPct val="150000"/>
              </a:lnSpc>
              <a:spcBef>
                <a:spcPts val="0"/>
              </a:spcBef>
              <a:spcAft>
                <a:spcPts val="0"/>
              </a:spcAft>
              <a:buNone/>
            </a:pPr>
            <a:r>
              <a:rPr lang="en-IN" sz="3200">
                <a:solidFill>
                  <a:srgbClr val="000000"/>
                </a:solidFill>
                <a:latin typeface="Times New Roman"/>
                <a:ea typeface="Times New Roman"/>
                <a:cs typeface="Times New Roman"/>
                <a:sym typeface="Times New Roman"/>
              </a:rPr>
              <a:t>Methodology / architectur</a:t>
            </a:r>
            <a:r>
              <a:rPr lang="en-IN" sz="3200">
                <a:latin typeface="Times New Roman"/>
                <a:ea typeface="Times New Roman"/>
                <a:cs typeface="Times New Roman"/>
                <a:sym typeface="Times New Roman"/>
              </a:rPr>
              <a:t>e</a:t>
            </a:r>
            <a:r>
              <a:rPr lang="en-IN" sz="3200">
                <a:solidFill>
                  <a:srgbClr val="000000"/>
                </a:solidFill>
                <a:latin typeface="Times New Roman"/>
                <a:ea typeface="Times New Roman"/>
                <a:cs typeface="Times New Roman"/>
                <a:sym typeface="Times New Roman"/>
              </a:rPr>
              <a:t> </a:t>
            </a:r>
            <a:endParaRPr/>
          </a:p>
          <a:p>
            <a:pPr indent="-82550" lvl="0" marL="82550" marR="6350" rtl="0" algn="just">
              <a:lnSpc>
                <a:spcPct val="150000"/>
              </a:lnSpc>
              <a:spcBef>
                <a:spcPts val="0"/>
              </a:spcBef>
              <a:spcAft>
                <a:spcPts val="0"/>
              </a:spcAft>
              <a:buNone/>
            </a:pPr>
            <a:r>
              <a:rPr lang="en-IN" sz="3200">
                <a:solidFill>
                  <a:srgbClr val="000000"/>
                </a:solidFill>
                <a:latin typeface="Times New Roman"/>
                <a:ea typeface="Times New Roman"/>
                <a:cs typeface="Times New Roman"/>
                <a:sym typeface="Times New Roman"/>
              </a:rPr>
              <a:t>Result and discussion </a:t>
            </a:r>
            <a:endParaRPr/>
          </a:p>
          <a:p>
            <a:pPr indent="-82550" lvl="0" marL="82550" marR="6350" rtl="0" algn="just">
              <a:lnSpc>
                <a:spcPct val="150000"/>
              </a:lnSpc>
              <a:spcBef>
                <a:spcPts val="0"/>
              </a:spcBef>
              <a:spcAft>
                <a:spcPts val="0"/>
              </a:spcAft>
              <a:buNone/>
            </a:pPr>
            <a:r>
              <a:rPr lang="en-IN" sz="3200">
                <a:solidFill>
                  <a:srgbClr val="000000"/>
                </a:solidFill>
                <a:latin typeface="Times New Roman"/>
                <a:ea typeface="Times New Roman"/>
                <a:cs typeface="Times New Roman"/>
                <a:sym typeface="Times New Roman"/>
              </a:rPr>
              <a:t>Conclusion</a:t>
            </a:r>
            <a:r>
              <a:rPr lang="en-IN" sz="3200">
                <a:latin typeface="Times New Roman"/>
                <a:ea typeface="Times New Roman"/>
                <a:cs typeface="Times New Roman"/>
                <a:sym typeface="Times New Roman"/>
              </a:rPr>
              <a:t> </a:t>
            </a:r>
            <a:endParaRPr/>
          </a:p>
          <a:p>
            <a:pPr indent="-82550" lvl="0" marL="82550" marR="6350" rtl="0" algn="just">
              <a:lnSpc>
                <a:spcPct val="150000"/>
              </a:lnSpc>
              <a:spcBef>
                <a:spcPts val="0"/>
              </a:spcBef>
              <a:spcAft>
                <a:spcPts val="0"/>
              </a:spcAft>
              <a:buNone/>
            </a:pPr>
            <a:r>
              <a:rPr lang="en-IN" sz="3200">
                <a:solidFill>
                  <a:srgbClr val="000000"/>
                </a:solidFill>
                <a:latin typeface="Times New Roman"/>
                <a:ea typeface="Times New Roman"/>
                <a:cs typeface="Times New Roman"/>
                <a:sym typeface="Times New Roman"/>
              </a:rPr>
              <a:t>Reference </a:t>
            </a:r>
            <a:endParaRPr/>
          </a:p>
          <a:p>
            <a:pPr indent="0" lvl="0" marL="0" marR="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109" name="Google Shape;109;g2cf4f00742c_0_0"/>
          <p:cNvSpPr txBox="1"/>
          <p:nvPr/>
        </p:nvSpPr>
        <p:spPr>
          <a:xfrm>
            <a:off x="3338905" y="1059575"/>
            <a:ext cx="6595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200">
                <a:solidFill>
                  <a:schemeClr val="dk1"/>
                </a:solidFill>
                <a:latin typeface="Calibri"/>
                <a:ea typeface="Calibri"/>
                <a:cs typeface="Calibri"/>
                <a:sym typeface="Calibri"/>
              </a:rPr>
              <a:t>               Presentation at a Glance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13" name="Shape 113"/>
        <p:cNvGrpSpPr/>
        <p:nvPr/>
      </p:nvGrpSpPr>
      <p:grpSpPr>
        <a:xfrm>
          <a:off x="0" y="0"/>
          <a:ext cx="0" cy="0"/>
          <a:chOff x="0" y="0"/>
          <a:chExt cx="0" cy="0"/>
        </a:xfrm>
      </p:grpSpPr>
      <p:pic>
        <p:nvPicPr>
          <p:cNvPr id="114" name="Google Shape;114;g26f5e3f3cf2_0_28"/>
          <p:cNvPicPr preferRelativeResize="0"/>
          <p:nvPr/>
        </p:nvPicPr>
        <p:blipFill rotWithShape="1">
          <a:blip r:embed="rId3">
            <a:alphaModFix/>
          </a:blip>
          <a:srcRect b="0" l="0" r="0" t="0"/>
          <a:stretch/>
        </p:blipFill>
        <p:spPr>
          <a:xfrm>
            <a:off x="-71558" y="1044774"/>
            <a:ext cx="12046854" cy="5980618"/>
          </a:xfrm>
          <a:prstGeom prst="rect">
            <a:avLst/>
          </a:prstGeom>
          <a:noFill/>
          <a:ln>
            <a:noFill/>
          </a:ln>
        </p:spPr>
      </p:pic>
      <p:sp>
        <p:nvSpPr>
          <p:cNvPr id="115" name="Google Shape;115;g26f5e3f3cf2_0_28"/>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16" name="Google Shape;116;g26f5e3f3cf2_0_28"/>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17" name="Google Shape;117;g26f5e3f3cf2_0_28"/>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18" name="Google Shape;118;g26f5e3f3cf2_0_28"/>
          <p:cNvSpPr txBox="1"/>
          <p:nvPr/>
        </p:nvSpPr>
        <p:spPr>
          <a:xfrm>
            <a:off x="166925" y="1257350"/>
            <a:ext cx="3000000" cy="677100"/>
          </a:xfrm>
          <a:prstGeom prst="rect">
            <a:avLst/>
          </a:prstGeom>
          <a:noFill/>
          <a:ln>
            <a:noFill/>
          </a:ln>
        </p:spPr>
        <p:txBody>
          <a:bodyPr anchorCtr="0" anchor="t" bIns="91425" lIns="91425" spcFirstLastPara="1" rIns="91425" wrap="square" tIns="91425">
            <a:spAutoFit/>
          </a:bodyPr>
          <a:lstStyle/>
          <a:p>
            <a:pPr indent="-82550" lvl="0" marL="82550" marR="6350" rtl="0" algn="just">
              <a:lnSpc>
                <a:spcPct val="150000"/>
              </a:lnSpc>
              <a:spcBef>
                <a:spcPts val="0"/>
              </a:spcBef>
              <a:spcAft>
                <a:spcPts val="0"/>
              </a:spcAft>
              <a:buNone/>
            </a:pPr>
            <a:r>
              <a:rPr lang="en-IN" sz="3200">
                <a:solidFill>
                  <a:srgbClr val="E69138"/>
                </a:solidFill>
                <a:latin typeface="Times New Roman"/>
                <a:ea typeface="Times New Roman"/>
                <a:cs typeface="Times New Roman"/>
                <a:sym typeface="Times New Roman"/>
              </a:rPr>
              <a:t>Abstract</a:t>
            </a:r>
            <a:endParaRPr>
              <a:solidFill>
                <a:srgbClr val="E69138"/>
              </a:solidFill>
            </a:endParaRPr>
          </a:p>
        </p:txBody>
      </p:sp>
      <p:pic>
        <p:nvPicPr>
          <p:cNvPr id="119" name="Google Shape;119;g26f5e3f3cf2_0_28"/>
          <p:cNvPicPr preferRelativeResize="0"/>
          <p:nvPr/>
        </p:nvPicPr>
        <p:blipFill>
          <a:blip r:embed="rId6">
            <a:alphaModFix/>
          </a:blip>
          <a:stretch>
            <a:fillRect/>
          </a:stretch>
        </p:blipFill>
        <p:spPr>
          <a:xfrm>
            <a:off x="1688825" y="1205763"/>
            <a:ext cx="10115400" cy="5658650"/>
          </a:xfrm>
          <a:prstGeom prst="rect">
            <a:avLst/>
          </a:prstGeom>
          <a:noFill/>
          <a:ln>
            <a:noFill/>
          </a:ln>
        </p:spPr>
      </p:pic>
      <p:sp>
        <p:nvSpPr>
          <p:cNvPr id="120" name="Google Shape;120;g26f5e3f3cf2_0_28"/>
          <p:cNvSpPr/>
          <p:nvPr/>
        </p:nvSpPr>
        <p:spPr>
          <a:xfrm>
            <a:off x="1688825" y="5886700"/>
            <a:ext cx="927900" cy="9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Calibri"/>
              <a:ea typeface="Calibri"/>
              <a:cs typeface="Calibri"/>
              <a:sym typeface="Calibri"/>
            </a:endParaRPr>
          </a:p>
        </p:txBody>
      </p:sp>
      <p:sp>
        <p:nvSpPr>
          <p:cNvPr id="121" name="Google Shape;121;g26f5e3f3cf2_0_28"/>
          <p:cNvSpPr txBox="1"/>
          <p:nvPr/>
        </p:nvSpPr>
        <p:spPr>
          <a:xfrm>
            <a:off x="2061750" y="5109425"/>
            <a:ext cx="420600" cy="5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1</a:t>
            </a:r>
            <a:endParaRPr b="1" sz="2800">
              <a:solidFill>
                <a:schemeClr val="dk1"/>
              </a:solidFill>
              <a:latin typeface="Calibri"/>
              <a:ea typeface="Calibri"/>
              <a:cs typeface="Calibri"/>
              <a:sym typeface="Calibri"/>
            </a:endParaRPr>
          </a:p>
        </p:txBody>
      </p:sp>
      <p:sp>
        <p:nvSpPr>
          <p:cNvPr id="122" name="Google Shape;122;g26f5e3f3cf2_0_28"/>
          <p:cNvSpPr txBox="1"/>
          <p:nvPr/>
        </p:nvSpPr>
        <p:spPr>
          <a:xfrm>
            <a:off x="2163250" y="1992150"/>
            <a:ext cx="453600" cy="6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2</a:t>
            </a:r>
            <a:endParaRPr b="1" sz="2800">
              <a:solidFill>
                <a:schemeClr val="dk1"/>
              </a:solidFill>
              <a:latin typeface="Calibri"/>
              <a:ea typeface="Calibri"/>
              <a:cs typeface="Calibri"/>
              <a:sym typeface="Calibri"/>
            </a:endParaRPr>
          </a:p>
        </p:txBody>
      </p:sp>
      <p:sp>
        <p:nvSpPr>
          <p:cNvPr id="123" name="Google Shape;123;g26f5e3f3cf2_0_28"/>
          <p:cNvSpPr txBox="1"/>
          <p:nvPr/>
        </p:nvSpPr>
        <p:spPr>
          <a:xfrm>
            <a:off x="5150025" y="1571675"/>
            <a:ext cx="420600" cy="6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3</a:t>
            </a:r>
            <a:endParaRPr b="1" sz="2800">
              <a:solidFill>
                <a:schemeClr val="dk1"/>
              </a:solidFill>
              <a:latin typeface="Calibri"/>
              <a:ea typeface="Calibri"/>
              <a:cs typeface="Calibri"/>
              <a:sym typeface="Calibri"/>
            </a:endParaRPr>
          </a:p>
        </p:txBody>
      </p:sp>
      <p:sp>
        <p:nvSpPr>
          <p:cNvPr id="124" name="Google Shape;124;g26f5e3f3cf2_0_28"/>
          <p:cNvSpPr txBox="1"/>
          <p:nvPr/>
        </p:nvSpPr>
        <p:spPr>
          <a:xfrm>
            <a:off x="8789250" y="3079575"/>
            <a:ext cx="536400" cy="6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4</a:t>
            </a:r>
            <a:endParaRPr b="1" sz="2800">
              <a:solidFill>
                <a:schemeClr val="dk1"/>
              </a:solidFill>
              <a:latin typeface="Calibri"/>
              <a:ea typeface="Calibri"/>
              <a:cs typeface="Calibri"/>
              <a:sym typeface="Calibri"/>
            </a:endParaRPr>
          </a:p>
        </p:txBody>
      </p:sp>
      <p:sp>
        <p:nvSpPr>
          <p:cNvPr id="125" name="Google Shape;125;g26f5e3f3cf2_0_28"/>
          <p:cNvSpPr txBox="1"/>
          <p:nvPr/>
        </p:nvSpPr>
        <p:spPr>
          <a:xfrm>
            <a:off x="8426775" y="5210925"/>
            <a:ext cx="420600" cy="6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5</a:t>
            </a:r>
            <a:endParaRPr b="1"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29" name="Shape 129"/>
        <p:cNvGrpSpPr/>
        <p:nvPr/>
      </p:nvGrpSpPr>
      <p:grpSpPr>
        <a:xfrm>
          <a:off x="0" y="0"/>
          <a:ext cx="0" cy="0"/>
          <a:chOff x="0" y="0"/>
          <a:chExt cx="0" cy="0"/>
        </a:xfrm>
      </p:grpSpPr>
      <p:pic>
        <p:nvPicPr>
          <p:cNvPr id="130" name="Google Shape;130;g26f5e3f3cf2_0_47"/>
          <p:cNvPicPr preferRelativeResize="0"/>
          <p:nvPr/>
        </p:nvPicPr>
        <p:blipFill rotWithShape="1">
          <a:blip r:embed="rId3">
            <a:alphaModFix/>
          </a:blip>
          <a:srcRect b="0" l="0" r="0" t="0"/>
          <a:stretch/>
        </p:blipFill>
        <p:spPr>
          <a:xfrm>
            <a:off x="94342" y="812799"/>
            <a:ext cx="12046854" cy="5980618"/>
          </a:xfrm>
          <a:prstGeom prst="rect">
            <a:avLst/>
          </a:prstGeom>
          <a:noFill/>
          <a:ln>
            <a:noFill/>
          </a:ln>
        </p:spPr>
      </p:pic>
      <p:sp>
        <p:nvSpPr>
          <p:cNvPr id="131" name="Google Shape;131;g26f5e3f3cf2_0_47"/>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32" name="Google Shape;132;g26f5e3f3cf2_0_47"/>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33" name="Google Shape;133;g26f5e3f3cf2_0_47"/>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34" name="Google Shape;134;g26f5e3f3cf2_0_47"/>
          <p:cNvSpPr txBox="1"/>
          <p:nvPr/>
        </p:nvSpPr>
        <p:spPr>
          <a:xfrm>
            <a:off x="292875" y="1107525"/>
            <a:ext cx="3000000" cy="677100"/>
          </a:xfrm>
          <a:prstGeom prst="rect">
            <a:avLst/>
          </a:prstGeom>
          <a:noFill/>
          <a:ln>
            <a:noFill/>
          </a:ln>
        </p:spPr>
        <p:txBody>
          <a:bodyPr anchorCtr="0" anchor="t" bIns="91425" lIns="91425" spcFirstLastPara="1" rIns="91425" wrap="square" tIns="91425">
            <a:spAutoFit/>
          </a:bodyPr>
          <a:lstStyle/>
          <a:p>
            <a:pPr indent="-82550" lvl="0" marL="82550" marR="6350" rtl="0" algn="just">
              <a:lnSpc>
                <a:spcPct val="150000"/>
              </a:lnSpc>
              <a:spcBef>
                <a:spcPts val="0"/>
              </a:spcBef>
              <a:spcAft>
                <a:spcPts val="0"/>
              </a:spcAft>
              <a:buNone/>
            </a:pPr>
            <a:r>
              <a:rPr b="1" lang="en-IN" sz="3200">
                <a:solidFill>
                  <a:schemeClr val="dk1"/>
                </a:solidFill>
                <a:latin typeface="Times New Roman"/>
                <a:ea typeface="Times New Roman"/>
                <a:cs typeface="Times New Roman"/>
                <a:sym typeface="Times New Roman"/>
              </a:rPr>
              <a:t>Introduction</a:t>
            </a:r>
            <a:endParaRPr b="1"/>
          </a:p>
        </p:txBody>
      </p:sp>
      <p:sp>
        <p:nvSpPr>
          <p:cNvPr id="135" name="Google Shape;135;g26f5e3f3cf2_0_47"/>
          <p:cNvSpPr txBox="1"/>
          <p:nvPr/>
        </p:nvSpPr>
        <p:spPr>
          <a:xfrm>
            <a:off x="720825" y="2014325"/>
            <a:ext cx="10343100" cy="452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Advancements in satellite technology, remote sensing, and GIS have led to the collection of vast amounts of geospatial data, including satellite imagery and SAR data, with unprecedented detail and frequency.</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Potential Applications:</a:t>
            </a:r>
            <a:r>
              <a:rPr lang="en-IN" sz="1800">
                <a:solidFill>
                  <a:schemeClr val="dk1"/>
                </a:solidFill>
                <a:latin typeface="Times New Roman"/>
                <a:ea typeface="Times New Roman"/>
                <a:cs typeface="Times New Roman"/>
                <a:sym typeface="Times New Roman"/>
              </a:rPr>
              <a:t> This wealth of data holds immense potential for applications in agriculture, forestry, urban planning, disaster management, and environmental monitoring.</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Challenges:</a:t>
            </a:r>
            <a:r>
              <a:rPr lang="en-IN" sz="1800">
                <a:solidFill>
                  <a:schemeClr val="dk1"/>
                </a:solidFill>
                <a:latin typeface="Times New Roman"/>
                <a:ea typeface="Times New Roman"/>
                <a:cs typeface="Times New Roman"/>
                <a:sym typeface="Times New Roman"/>
              </a:rPr>
              <a:t> Accessing and analyzing satellite geospatial data is hindered by complex tools and high costs associated with specialized software. Challenges include the preprocessing of raw data and the cost of acquiring and maintaining specialized software licenses.</a:t>
            </a:r>
            <a:endParaRPr sz="18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Need for Solutions:</a:t>
            </a:r>
            <a:r>
              <a:rPr lang="en-IN" sz="1800">
                <a:solidFill>
                  <a:schemeClr val="dk1"/>
                </a:solidFill>
                <a:latin typeface="Times New Roman"/>
                <a:ea typeface="Times New Roman"/>
                <a:cs typeface="Times New Roman"/>
                <a:sym typeface="Times New Roman"/>
              </a:rPr>
              <a:t> There is a need for cost-effective and user-friendly tools that simplify the access and analysis of satellite geospatial data. Developing such tools can enhance the usability of satellite data and unlock its full potential for a wide range of applications.</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39" name="Shape 139"/>
        <p:cNvGrpSpPr/>
        <p:nvPr/>
      </p:nvGrpSpPr>
      <p:grpSpPr>
        <a:xfrm>
          <a:off x="0" y="0"/>
          <a:ext cx="0" cy="0"/>
          <a:chOff x="0" y="0"/>
          <a:chExt cx="0" cy="0"/>
        </a:xfrm>
      </p:grpSpPr>
      <p:pic>
        <p:nvPicPr>
          <p:cNvPr id="140" name="Google Shape;140;g26f5e3f3cf2_0_12"/>
          <p:cNvPicPr preferRelativeResize="0"/>
          <p:nvPr/>
        </p:nvPicPr>
        <p:blipFill rotWithShape="1">
          <a:blip r:embed="rId3">
            <a:alphaModFix/>
          </a:blip>
          <a:srcRect b="0" l="0" r="0" t="0"/>
          <a:stretch/>
        </p:blipFill>
        <p:spPr>
          <a:xfrm>
            <a:off x="72567" y="759999"/>
            <a:ext cx="12046854" cy="5980618"/>
          </a:xfrm>
          <a:prstGeom prst="rect">
            <a:avLst/>
          </a:prstGeom>
          <a:noFill/>
          <a:ln>
            <a:noFill/>
          </a:ln>
        </p:spPr>
      </p:pic>
      <p:sp>
        <p:nvSpPr>
          <p:cNvPr id="141" name="Google Shape;141;g26f5e3f3cf2_0_12"/>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42" name="Google Shape;142;g26f5e3f3cf2_0_12"/>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43" name="Google Shape;143;g26f5e3f3cf2_0_12"/>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44" name="Google Shape;144;g26f5e3f3cf2_0_12"/>
          <p:cNvSpPr txBox="1"/>
          <p:nvPr/>
        </p:nvSpPr>
        <p:spPr>
          <a:xfrm>
            <a:off x="266850" y="1541250"/>
            <a:ext cx="11234100" cy="996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IN" sz="2200">
                <a:solidFill>
                  <a:schemeClr val="dk1"/>
                </a:solidFill>
                <a:latin typeface="Times New Roman"/>
                <a:ea typeface="Times New Roman"/>
                <a:cs typeface="Times New Roman"/>
                <a:sym typeface="Times New Roman"/>
              </a:rPr>
              <a:t>The processing of </a:t>
            </a:r>
            <a:r>
              <a:rPr b="1" lang="en-IN" sz="2200">
                <a:solidFill>
                  <a:schemeClr val="dk1"/>
                </a:solidFill>
                <a:latin typeface="Times New Roman"/>
                <a:ea typeface="Times New Roman"/>
                <a:cs typeface="Times New Roman"/>
                <a:sym typeface="Times New Roman"/>
              </a:rPr>
              <a:t>large geospatial datasets</a:t>
            </a:r>
            <a:r>
              <a:rPr lang="en-IN" sz="2200">
                <a:solidFill>
                  <a:schemeClr val="dk1"/>
                </a:solidFill>
                <a:latin typeface="Times New Roman"/>
                <a:ea typeface="Times New Roman"/>
                <a:cs typeface="Times New Roman"/>
                <a:sym typeface="Times New Roman"/>
              </a:rPr>
              <a:t>, often several </a:t>
            </a:r>
            <a:r>
              <a:rPr b="1" lang="en-IN" sz="2200">
                <a:solidFill>
                  <a:schemeClr val="dk1"/>
                </a:solidFill>
                <a:latin typeface="Times New Roman"/>
                <a:ea typeface="Times New Roman"/>
                <a:cs typeface="Times New Roman"/>
                <a:sym typeface="Times New Roman"/>
              </a:rPr>
              <a:t>gigabytes</a:t>
            </a:r>
            <a:r>
              <a:rPr lang="en-IN" sz="2200">
                <a:solidFill>
                  <a:schemeClr val="dk1"/>
                </a:solidFill>
                <a:latin typeface="Times New Roman"/>
                <a:ea typeface="Times New Roman"/>
                <a:cs typeface="Times New Roman"/>
                <a:sym typeface="Times New Roman"/>
              </a:rPr>
              <a:t> in size, poses significant challenges in terms of efficiency and time consumption.</a:t>
            </a:r>
            <a:endParaRPr sz="2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t/>
            </a:r>
            <a:endParaRPr sz="22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2200">
              <a:solidFill>
                <a:schemeClr val="dk1"/>
              </a:solidFill>
              <a:latin typeface="Times New Roman"/>
              <a:ea typeface="Times New Roman"/>
              <a:cs typeface="Times New Roman"/>
              <a:sym typeface="Times New Roman"/>
            </a:endParaRPr>
          </a:p>
        </p:txBody>
      </p:sp>
      <p:sp>
        <p:nvSpPr>
          <p:cNvPr id="145" name="Google Shape;145;g26f5e3f3cf2_0_12"/>
          <p:cNvSpPr txBox="1"/>
          <p:nvPr/>
        </p:nvSpPr>
        <p:spPr>
          <a:xfrm>
            <a:off x="394375" y="906650"/>
            <a:ext cx="3679800" cy="750600"/>
          </a:xfrm>
          <a:prstGeom prst="rect">
            <a:avLst/>
          </a:prstGeom>
          <a:noFill/>
          <a:ln>
            <a:noFill/>
          </a:ln>
        </p:spPr>
        <p:txBody>
          <a:bodyPr anchorCtr="0" anchor="t" bIns="91425" lIns="91425" spcFirstLastPara="1" rIns="91425" wrap="square" tIns="91425">
            <a:noAutofit/>
          </a:bodyPr>
          <a:lstStyle/>
          <a:p>
            <a:pPr indent="-82550" lvl="0" marL="82550" marR="6350" rtl="0" algn="just">
              <a:lnSpc>
                <a:spcPct val="150000"/>
              </a:lnSpc>
              <a:spcBef>
                <a:spcPts val="0"/>
              </a:spcBef>
              <a:spcAft>
                <a:spcPts val="0"/>
              </a:spcAft>
              <a:buClr>
                <a:schemeClr val="dk1"/>
              </a:buClr>
              <a:buFont typeface="Arial"/>
              <a:buNone/>
            </a:pPr>
            <a:r>
              <a:rPr b="1" lang="en-IN" sz="3200">
                <a:solidFill>
                  <a:srgbClr val="351C75"/>
                </a:solidFill>
                <a:latin typeface="Times New Roman"/>
                <a:ea typeface="Times New Roman"/>
                <a:cs typeface="Times New Roman"/>
                <a:sym typeface="Times New Roman"/>
              </a:rPr>
              <a:t>Problem Statement </a:t>
            </a:r>
            <a:endParaRPr b="1" sz="2800">
              <a:solidFill>
                <a:srgbClr val="351C75"/>
              </a:solidFill>
              <a:latin typeface="Calibri"/>
              <a:ea typeface="Calibri"/>
              <a:cs typeface="Calibri"/>
              <a:sym typeface="Calibri"/>
            </a:endParaRPr>
          </a:p>
        </p:txBody>
      </p:sp>
      <p:pic>
        <p:nvPicPr>
          <p:cNvPr id="146" name="Google Shape;146;g26f5e3f3cf2_0_12"/>
          <p:cNvPicPr preferRelativeResize="0"/>
          <p:nvPr/>
        </p:nvPicPr>
        <p:blipFill>
          <a:blip r:embed="rId6">
            <a:alphaModFix/>
          </a:blip>
          <a:stretch>
            <a:fillRect/>
          </a:stretch>
        </p:blipFill>
        <p:spPr>
          <a:xfrm>
            <a:off x="4928938" y="2763713"/>
            <a:ext cx="7096125" cy="3876675"/>
          </a:xfrm>
          <a:prstGeom prst="rect">
            <a:avLst/>
          </a:prstGeom>
          <a:noFill/>
          <a:ln>
            <a:noFill/>
          </a:ln>
        </p:spPr>
      </p:pic>
      <p:sp>
        <p:nvSpPr>
          <p:cNvPr id="147" name="Google Shape;147;g26f5e3f3cf2_0_12"/>
          <p:cNvSpPr txBox="1"/>
          <p:nvPr/>
        </p:nvSpPr>
        <p:spPr>
          <a:xfrm>
            <a:off x="394375" y="2763726"/>
            <a:ext cx="4335300" cy="387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Clr>
                <a:schemeClr val="dk1"/>
              </a:buClr>
              <a:buSzPts val="1100"/>
              <a:buFont typeface="Arial"/>
              <a:buNone/>
            </a:pPr>
            <a:r>
              <a:rPr lang="en-IN" sz="2100">
                <a:solidFill>
                  <a:srgbClr val="351C75"/>
                </a:solidFill>
                <a:latin typeface="Georgia"/>
                <a:ea typeface="Georgia"/>
                <a:cs typeface="Georgia"/>
                <a:sym typeface="Georgia"/>
              </a:rPr>
              <a:t>ISRO's Codelab aims to address this challenge by developing a </a:t>
            </a:r>
            <a:r>
              <a:rPr b="1" lang="en-IN" sz="2100">
                <a:solidFill>
                  <a:srgbClr val="351C75"/>
                </a:solidFill>
                <a:latin typeface="Georgia"/>
                <a:ea typeface="Georgia"/>
                <a:cs typeface="Georgia"/>
                <a:sym typeface="Georgia"/>
              </a:rPr>
              <a:t>GeoLens, a framework</a:t>
            </a:r>
            <a:r>
              <a:rPr lang="en-IN" sz="2100">
                <a:solidFill>
                  <a:srgbClr val="351C75"/>
                </a:solidFill>
                <a:latin typeface="Georgia"/>
                <a:ea typeface="Georgia"/>
                <a:cs typeface="Georgia"/>
                <a:sym typeface="Georgia"/>
              </a:rPr>
              <a:t> that enables on-the-fly modification of data products. GeoLens allows for the efficient processing and delivery of modified data products to clients, thereby enhancing the overall processing workflow of large dataset.</a:t>
            </a:r>
            <a:endParaRPr sz="2100">
              <a:solidFill>
                <a:srgbClr val="351C75"/>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51" name="Shape 151"/>
        <p:cNvGrpSpPr/>
        <p:nvPr/>
      </p:nvGrpSpPr>
      <p:grpSpPr>
        <a:xfrm>
          <a:off x="0" y="0"/>
          <a:ext cx="0" cy="0"/>
          <a:chOff x="0" y="0"/>
          <a:chExt cx="0" cy="0"/>
        </a:xfrm>
      </p:grpSpPr>
      <p:pic>
        <p:nvPicPr>
          <p:cNvPr id="152" name="Google Shape;152;g26f771519f9_0_13"/>
          <p:cNvPicPr preferRelativeResize="0"/>
          <p:nvPr/>
        </p:nvPicPr>
        <p:blipFill rotWithShape="1">
          <a:blip r:embed="rId3">
            <a:alphaModFix/>
          </a:blip>
          <a:srcRect b="0" l="0" r="0" t="0"/>
          <a:stretch/>
        </p:blipFill>
        <p:spPr>
          <a:xfrm>
            <a:off x="94342" y="812799"/>
            <a:ext cx="12046854" cy="5980618"/>
          </a:xfrm>
          <a:prstGeom prst="rect">
            <a:avLst/>
          </a:prstGeom>
          <a:noFill/>
          <a:ln>
            <a:noFill/>
          </a:ln>
        </p:spPr>
      </p:pic>
      <p:sp>
        <p:nvSpPr>
          <p:cNvPr id="153" name="Google Shape;153;g26f771519f9_0_13"/>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54" name="Google Shape;154;g26f771519f9_0_13"/>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55" name="Google Shape;155;g26f771519f9_0_13"/>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56" name="Google Shape;156;g26f771519f9_0_13"/>
          <p:cNvSpPr txBox="1"/>
          <p:nvPr/>
        </p:nvSpPr>
        <p:spPr>
          <a:xfrm>
            <a:off x="254050" y="952575"/>
            <a:ext cx="2518200" cy="750600"/>
          </a:xfrm>
          <a:prstGeom prst="rect">
            <a:avLst/>
          </a:prstGeom>
          <a:noFill/>
          <a:ln>
            <a:noFill/>
          </a:ln>
        </p:spPr>
        <p:txBody>
          <a:bodyPr anchorCtr="0" anchor="t" bIns="91425" lIns="91425" spcFirstLastPara="1" rIns="91425" wrap="square" tIns="91425">
            <a:noAutofit/>
          </a:bodyPr>
          <a:lstStyle/>
          <a:p>
            <a:pPr indent="-82550" lvl="0" marL="82550" marR="6350" rtl="0" algn="just">
              <a:lnSpc>
                <a:spcPct val="150000"/>
              </a:lnSpc>
              <a:spcBef>
                <a:spcPts val="0"/>
              </a:spcBef>
              <a:spcAft>
                <a:spcPts val="0"/>
              </a:spcAft>
              <a:buClr>
                <a:schemeClr val="dk1"/>
              </a:buClr>
              <a:buFont typeface="Arial"/>
              <a:buNone/>
            </a:pPr>
            <a:r>
              <a:rPr b="1" lang="en-IN" sz="3200">
                <a:solidFill>
                  <a:srgbClr val="351C75"/>
                </a:solidFill>
                <a:latin typeface="Times New Roman"/>
                <a:ea typeface="Times New Roman"/>
                <a:cs typeface="Times New Roman"/>
                <a:sym typeface="Times New Roman"/>
              </a:rPr>
              <a:t>Methodology</a:t>
            </a:r>
            <a:endParaRPr b="1" sz="2800">
              <a:solidFill>
                <a:srgbClr val="351C75"/>
              </a:solidFill>
              <a:latin typeface="Calibri"/>
              <a:ea typeface="Calibri"/>
              <a:cs typeface="Calibri"/>
              <a:sym typeface="Calibri"/>
            </a:endParaRPr>
          </a:p>
        </p:txBody>
      </p:sp>
      <p:pic>
        <p:nvPicPr>
          <p:cNvPr id="157" name="Google Shape;157;g26f771519f9_0_13"/>
          <p:cNvPicPr preferRelativeResize="0"/>
          <p:nvPr/>
        </p:nvPicPr>
        <p:blipFill>
          <a:blip r:embed="rId6">
            <a:alphaModFix/>
          </a:blip>
          <a:stretch>
            <a:fillRect/>
          </a:stretch>
        </p:blipFill>
        <p:spPr>
          <a:xfrm>
            <a:off x="254050" y="1854600"/>
            <a:ext cx="11771025" cy="47322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61" name="Shape 161"/>
        <p:cNvGrpSpPr/>
        <p:nvPr/>
      </p:nvGrpSpPr>
      <p:grpSpPr>
        <a:xfrm>
          <a:off x="0" y="0"/>
          <a:ext cx="0" cy="0"/>
          <a:chOff x="0" y="0"/>
          <a:chExt cx="0" cy="0"/>
        </a:xfrm>
      </p:grpSpPr>
      <p:pic>
        <p:nvPicPr>
          <p:cNvPr id="162" name="Google Shape;162;g2cfb69986e0_0_38"/>
          <p:cNvPicPr preferRelativeResize="0"/>
          <p:nvPr/>
        </p:nvPicPr>
        <p:blipFill rotWithShape="1">
          <a:blip r:embed="rId3">
            <a:alphaModFix/>
          </a:blip>
          <a:srcRect b="0" l="0" r="0" t="0"/>
          <a:stretch/>
        </p:blipFill>
        <p:spPr>
          <a:xfrm>
            <a:off x="72567" y="877374"/>
            <a:ext cx="12046854" cy="5980618"/>
          </a:xfrm>
          <a:prstGeom prst="rect">
            <a:avLst/>
          </a:prstGeom>
          <a:noFill/>
          <a:ln>
            <a:noFill/>
          </a:ln>
        </p:spPr>
      </p:pic>
      <p:sp>
        <p:nvSpPr>
          <p:cNvPr id="163" name="Google Shape;163;g2cfb69986e0_0_38"/>
          <p:cNvSpPr txBox="1"/>
          <p:nvPr/>
        </p:nvSpPr>
        <p:spPr>
          <a:xfrm>
            <a:off x="6225173" y="150690"/>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64" name="Google Shape;164;g2cfb69986e0_0_38"/>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65" name="Google Shape;165;g2cfb69986e0_0_38"/>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66" name="Google Shape;166;g2cfb69986e0_0_38"/>
          <p:cNvSpPr txBox="1"/>
          <p:nvPr/>
        </p:nvSpPr>
        <p:spPr>
          <a:xfrm>
            <a:off x="539350" y="1557175"/>
            <a:ext cx="11485800" cy="2001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2200">
              <a:solidFill>
                <a:srgbClr val="741B47"/>
              </a:solidFill>
              <a:latin typeface="Calibri"/>
              <a:ea typeface="Calibri"/>
              <a:cs typeface="Calibri"/>
              <a:sym typeface="Calibri"/>
            </a:endParaRPr>
          </a:p>
        </p:txBody>
      </p:sp>
      <p:sp>
        <p:nvSpPr>
          <p:cNvPr id="167" name="Google Shape;167;g2cfb69986e0_0_38"/>
          <p:cNvSpPr/>
          <p:nvPr/>
        </p:nvSpPr>
        <p:spPr>
          <a:xfrm>
            <a:off x="539350" y="1397675"/>
            <a:ext cx="11338200" cy="913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68300" lvl="0" marL="457200" rtl="0" algn="just">
              <a:spcBef>
                <a:spcPts val="0"/>
              </a:spcBef>
              <a:spcAft>
                <a:spcPts val="0"/>
              </a:spcAft>
              <a:buClr>
                <a:srgbClr val="741B47"/>
              </a:buClr>
              <a:buSzPts val="2200"/>
              <a:buFont typeface="Calibri"/>
              <a:buChar char="●"/>
            </a:pPr>
            <a:r>
              <a:rPr b="1" lang="en-IN" sz="2200">
                <a:solidFill>
                  <a:srgbClr val="741B47"/>
                </a:solidFill>
                <a:latin typeface="Calibri"/>
                <a:ea typeface="Calibri"/>
                <a:cs typeface="Calibri"/>
                <a:sym typeface="Calibri"/>
              </a:rPr>
              <a:t>RasterTileDivider</a:t>
            </a:r>
            <a:r>
              <a:rPr lang="en-IN" sz="2200">
                <a:solidFill>
                  <a:srgbClr val="741B47"/>
                </a:solidFill>
                <a:latin typeface="Calibri"/>
                <a:ea typeface="Calibri"/>
                <a:cs typeface="Calibri"/>
                <a:sym typeface="Calibri"/>
              </a:rPr>
              <a:t> expertly partitions expansive raster images into smaller, designated tiles, saving them as individual TIFF files while handling edge cases for thorough processing.</a:t>
            </a:r>
            <a:endParaRPr>
              <a:solidFill>
                <a:srgbClr val="6FA8DC"/>
              </a:solidFill>
              <a:latin typeface="Calibri"/>
              <a:ea typeface="Calibri"/>
              <a:cs typeface="Calibri"/>
              <a:sym typeface="Calibri"/>
            </a:endParaRPr>
          </a:p>
        </p:txBody>
      </p:sp>
      <p:sp>
        <p:nvSpPr>
          <p:cNvPr id="168" name="Google Shape;168;g2cfb69986e0_0_38"/>
          <p:cNvSpPr txBox="1"/>
          <p:nvPr/>
        </p:nvSpPr>
        <p:spPr>
          <a:xfrm>
            <a:off x="727850" y="2499625"/>
            <a:ext cx="11149800" cy="7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69" name="Google Shape;169;g2cfb69986e0_0_38"/>
          <p:cNvSpPr/>
          <p:nvPr/>
        </p:nvSpPr>
        <p:spPr>
          <a:xfrm>
            <a:off x="553900" y="2434375"/>
            <a:ext cx="11309100" cy="913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68300" lvl="0" marL="457200" rtl="0" algn="just">
              <a:spcBef>
                <a:spcPts val="0"/>
              </a:spcBef>
              <a:spcAft>
                <a:spcPts val="0"/>
              </a:spcAft>
              <a:buClr>
                <a:srgbClr val="741B47"/>
              </a:buClr>
              <a:buSzPts val="2200"/>
              <a:buFont typeface="Calibri"/>
              <a:buChar char="●"/>
            </a:pPr>
            <a:r>
              <a:rPr b="1" lang="en-IN" sz="2200">
                <a:solidFill>
                  <a:srgbClr val="741B47"/>
                </a:solidFill>
                <a:latin typeface="Calibri"/>
                <a:ea typeface="Calibri"/>
                <a:cs typeface="Calibri"/>
                <a:sym typeface="Calibri"/>
              </a:rPr>
              <a:t>Merging</a:t>
            </a:r>
            <a:r>
              <a:rPr lang="en-IN" sz="2200">
                <a:solidFill>
                  <a:srgbClr val="741B47"/>
                </a:solidFill>
                <a:latin typeface="Calibri"/>
                <a:ea typeface="Calibri"/>
                <a:cs typeface="Calibri"/>
                <a:sym typeface="Calibri"/>
              </a:rPr>
              <a:t> integrates multiple input TIFF files by stacking them, a crucial step for generating time series data that meets the growing demand for Analysis-Ready Data (ARD) applications.</a:t>
            </a:r>
            <a:endParaRPr sz="2200">
              <a:solidFill>
                <a:srgbClr val="741B47"/>
              </a:solidFill>
              <a:latin typeface="Calibri"/>
              <a:ea typeface="Calibri"/>
              <a:cs typeface="Calibri"/>
              <a:sym typeface="Calibri"/>
            </a:endParaRPr>
          </a:p>
        </p:txBody>
      </p:sp>
      <p:sp>
        <p:nvSpPr>
          <p:cNvPr id="170" name="Google Shape;170;g2cfb69986e0_0_38"/>
          <p:cNvSpPr txBox="1"/>
          <p:nvPr/>
        </p:nvSpPr>
        <p:spPr>
          <a:xfrm>
            <a:off x="791025" y="150663"/>
            <a:ext cx="4847700" cy="677100"/>
          </a:xfrm>
          <a:prstGeom prst="rect">
            <a:avLst/>
          </a:prstGeom>
          <a:noFill/>
          <a:ln>
            <a:noFill/>
          </a:ln>
        </p:spPr>
        <p:txBody>
          <a:bodyPr anchorCtr="0" anchor="t" bIns="91425" lIns="91425" spcFirstLastPara="1" rIns="91425" wrap="square" tIns="91425">
            <a:spAutoFit/>
          </a:bodyPr>
          <a:lstStyle/>
          <a:p>
            <a:pPr indent="-82550" lvl="0" marL="82550" marR="6350" rtl="0" algn="just">
              <a:lnSpc>
                <a:spcPct val="150000"/>
              </a:lnSpc>
              <a:spcBef>
                <a:spcPts val="0"/>
              </a:spcBef>
              <a:spcAft>
                <a:spcPts val="0"/>
              </a:spcAft>
              <a:buNone/>
            </a:pPr>
            <a:r>
              <a:rPr b="1" lang="en-IN" sz="3200">
                <a:solidFill>
                  <a:srgbClr val="E69138"/>
                </a:solidFill>
                <a:latin typeface="Times New Roman"/>
                <a:ea typeface="Times New Roman"/>
                <a:cs typeface="Times New Roman"/>
                <a:sym typeface="Times New Roman"/>
              </a:rPr>
              <a:t>Results and Discussion</a:t>
            </a:r>
            <a:endParaRPr b="1" sz="2800">
              <a:solidFill>
                <a:srgbClr val="E69138"/>
              </a:solidFill>
              <a:latin typeface="Calibri"/>
              <a:ea typeface="Calibri"/>
              <a:cs typeface="Calibri"/>
              <a:sym typeface="Calibri"/>
            </a:endParaRPr>
          </a:p>
        </p:txBody>
      </p:sp>
      <p:pic>
        <p:nvPicPr>
          <p:cNvPr id="171" name="Google Shape;171;g2cfb69986e0_0_38"/>
          <p:cNvPicPr preferRelativeResize="0"/>
          <p:nvPr/>
        </p:nvPicPr>
        <p:blipFill>
          <a:blip r:embed="rId6">
            <a:alphaModFix/>
          </a:blip>
          <a:stretch>
            <a:fillRect/>
          </a:stretch>
        </p:blipFill>
        <p:spPr>
          <a:xfrm>
            <a:off x="2816764" y="3204700"/>
            <a:ext cx="8885883" cy="36532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75" name="Shape 175"/>
        <p:cNvGrpSpPr/>
        <p:nvPr/>
      </p:nvGrpSpPr>
      <p:grpSpPr>
        <a:xfrm>
          <a:off x="0" y="0"/>
          <a:ext cx="0" cy="0"/>
          <a:chOff x="0" y="0"/>
          <a:chExt cx="0" cy="0"/>
        </a:xfrm>
      </p:grpSpPr>
      <p:pic>
        <p:nvPicPr>
          <p:cNvPr id="176" name="Google Shape;176;g2cf4f00742c_0_23"/>
          <p:cNvPicPr preferRelativeResize="0"/>
          <p:nvPr/>
        </p:nvPicPr>
        <p:blipFill rotWithShape="1">
          <a:blip r:embed="rId3">
            <a:alphaModFix/>
          </a:blip>
          <a:srcRect b="0" l="0" r="0" t="0"/>
          <a:stretch/>
        </p:blipFill>
        <p:spPr>
          <a:xfrm>
            <a:off x="-8" y="877374"/>
            <a:ext cx="12046854" cy="5980618"/>
          </a:xfrm>
          <a:prstGeom prst="rect">
            <a:avLst/>
          </a:prstGeom>
          <a:noFill/>
          <a:ln>
            <a:noFill/>
          </a:ln>
        </p:spPr>
      </p:pic>
      <p:sp>
        <p:nvSpPr>
          <p:cNvPr id="177" name="Google Shape;177;g2cf4f00742c_0_23"/>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78" name="Google Shape;178;g2cf4f00742c_0_23"/>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79" name="Google Shape;179;g2cf4f00742c_0_23"/>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80" name="Google Shape;180;g2cf4f00742c_0_23"/>
          <p:cNvSpPr txBox="1"/>
          <p:nvPr/>
        </p:nvSpPr>
        <p:spPr>
          <a:xfrm>
            <a:off x="166925" y="979375"/>
            <a:ext cx="4055100" cy="615600"/>
          </a:xfrm>
          <a:prstGeom prst="rect">
            <a:avLst/>
          </a:prstGeom>
          <a:noFill/>
          <a:ln>
            <a:noFill/>
          </a:ln>
        </p:spPr>
        <p:txBody>
          <a:bodyPr anchorCtr="0" anchor="t" bIns="91425" lIns="91425" spcFirstLastPara="1" rIns="91425" wrap="square" tIns="91425">
            <a:spAutoFit/>
          </a:bodyPr>
          <a:lstStyle/>
          <a:p>
            <a:pPr indent="-82550" lvl="0" marL="82550" marR="6350" rtl="0" algn="just">
              <a:lnSpc>
                <a:spcPct val="150000"/>
              </a:lnSpc>
              <a:spcBef>
                <a:spcPts val="0"/>
              </a:spcBef>
              <a:spcAft>
                <a:spcPts val="0"/>
              </a:spcAft>
              <a:buNone/>
            </a:pPr>
            <a:r>
              <a:t/>
            </a:r>
            <a:endParaRPr b="1" sz="2800">
              <a:solidFill>
                <a:schemeClr val="dk1"/>
              </a:solidFill>
              <a:latin typeface="Calibri"/>
              <a:ea typeface="Calibri"/>
              <a:cs typeface="Calibri"/>
              <a:sym typeface="Calibri"/>
            </a:endParaRPr>
          </a:p>
        </p:txBody>
      </p:sp>
      <p:sp>
        <p:nvSpPr>
          <p:cNvPr id="181" name="Google Shape;181;g2cf4f00742c_0_23"/>
          <p:cNvSpPr txBox="1"/>
          <p:nvPr/>
        </p:nvSpPr>
        <p:spPr>
          <a:xfrm>
            <a:off x="495875" y="1934150"/>
            <a:ext cx="11352600" cy="4581600"/>
          </a:xfrm>
          <a:prstGeom prst="rect">
            <a:avLst/>
          </a:prstGeom>
          <a:noFill/>
          <a:ln>
            <a:noFill/>
          </a:ln>
        </p:spPr>
        <p:txBody>
          <a:bodyPr anchorCtr="0" anchor="t" bIns="91425" lIns="91425" spcFirstLastPara="1" rIns="91425" wrap="square" tIns="91425">
            <a:noAutofit/>
          </a:bodyPr>
          <a:lstStyle/>
          <a:p>
            <a:pPr indent="-368300" lvl="0" marL="457200" rtl="0" algn="just">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This function uses the </a:t>
            </a:r>
            <a:r>
              <a:rPr b="1" lang="en-IN" sz="2200">
                <a:solidFill>
                  <a:schemeClr val="dk1"/>
                </a:solidFill>
                <a:latin typeface="Calibri"/>
                <a:ea typeface="Calibri"/>
                <a:cs typeface="Calibri"/>
                <a:sym typeface="Calibri"/>
              </a:rPr>
              <a:t>ipyleaflet </a:t>
            </a:r>
            <a:r>
              <a:rPr lang="en-IN" sz="2200">
                <a:solidFill>
                  <a:schemeClr val="dk1"/>
                </a:solidFill>
                <a:latin typeface="Calibri"/>
                <a:ea typeface="Calibri"/>
                <a:cs typeface="Calibri"/>
                <a:sym typeface="Calibri"/>
              </a:rPr>
              <a:t>library for creating interactive maps and the </a:t>
            </a:r>
            <a:r>
              <a:rPr b="1" lang="en-IN" sz="2200">
                <a:solidFill>
                  <a:schemeClr val="dk1"/>
                </a:solidFill>
                <a:latin typeface="Calibri"/>
                <a:ea typeface="Calibri"/>
                <a:cs typeface="Calibri"/>
                <a:sym typeface="Calibri"/>
              </a:rPr>
              <a:t>h5py library</a:t>
            </a:r>
            <a:r>
              <a:rPr lang="en-IN" sz="2200">
                <a:solidFill>
                  <a:schemeClr val="dk1"/>
                </a:solidFill>
                <a:latin typeface="Calibri"/>
                <a:ea typeface="Calibri"/>
                <a:cs typeface="Calibri"/>
                <a:sym typeface="Calibri"/>
              </a:rPr>
              <a:t> for reading HDF5 files. </a:t>
            </a:r>
            <a:endParaRPr sz="2200">
              <a:solidFill>
                <a:schemeClr val="dk1"/>
              </a:solidFill>
              <a:latin typeface="Calibri"/>
              <a:ea typeface="Calibri"/>
              <a:cs typeface="Calibri"/>
              <a:sym typeface="Calibri"/>
            </a:endParaRPr>
          </a:p>
          <a:p>
            <a:pPr indent="-368300" lvl="0" marL="457200" rtl="0" algn="just">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The input is an </a:t>
            </a:r>
            <a:r>
              <a:rPr b="1" lang="en-IN" sz="2200">
                <a:solidFill>
                  <a:schemeClr val="dk1"/>
                </a:solidFill>
                <a:latin typeface="Calibri"/>
                <a:ea typeface="Calibri"/>
                <a:cs typeface="Calibri"/>
                <a:sym typeface="Calibri"/>
              </a:rPr>
              <a:t>HDF5 file</a:t>
            </a:r>
            <a:r>
              <a:rPr lang="en-IN" sz="2200">
                <a:solidFill>
                  <a:schemeClr val="dk1"/>
                </a:solidFill>
                <a:latin typeface="Calibri"/>
                <a:ea typeface="Calibri"/>
                <a:cs typeface="Calibri"/>
                <a:sym typeface="Calibri"/>
              </a:rPr>
              <a:t> containing SAR satellite data.</a:t>
            </a:r>
            <a:endParaRPr sz="2200">
              <a:solidFill>
                <a:schemeClr val="dk1"/>
              </a:solidFill>
              <a:latin typeface="Calibri"/>
              <a:ea typeface="Calibri"/>
              <a:cs typeface="Calibri"/>
              <a:sym typeface="Calibri"/>
            </a:endParaRPr>
          </a:p>
          <a:p>
            <a:pPr indent="-368300" lvl="0" marL="457200" rtl="0" algn="just">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 </a:t>
            </a:r>
            <a:r>
              <a:rPr lang="en-IN" sz="2200">
                <a:solidFill>
                  <a:schemeClr val="dk1"/>
                </a:solidFill>
                <a:latin typeface="Calibri"/>
                <a:ea typeface="Calibri"/>
                <a:cs typeface="Calibri"/>
                <a:sym typeface="Calibri"/>
              </a:rPr>
              <a:t>The function </a:t>
            </a:r>
            <a:r>
              <a:rPr lang="en-IN" sz="2200">
                <a:solidFill>
                  <a:schemeClr val="dk1"/>
                </a:solidFill>
                <a:latin typeface="Calibri"/>
                <a:ea typeface="Calibri"/>
                <a:cs typeface="Calibri"/>
                <a:sym typeface="Calibri"/>
              </a:rPr>
              <a:t>reads the bounding polygon from the file, </a:t>
            </a:r>
            <a:r>
              <a:rPr b="1" lang="en-IN" sz="2200">
                <a:solidFill>
                  <a:schemeClr val="dk1"/>
                </a:solidFill>
                <a:latin typeface="Calibri"/>
                <a:ea typeface="Calibri"/>
                <a:cs typeface="Calibri"/>
                <a:sym typeface="Calibri"/>
              </a:rPr>
              <a:t>calculates the scene center,</a:t>
            </a:r>
            <a:r>
              <a:rPr lang="en-IN" sz="2200">
                <a:solidFill>
                  <a:schemeClr val="dk1"/>
                </a:solidFill>
                <a:latin typeface="Calibri"/>
                <a:ea typeface="Calibri"/>
                <a:cs typeface="Calibri"/>
                <a:sym typeface="Calibri"/>
              </a:rPr>
              <a:t> creates an interactive map centered on the scene, and adds a layer displaying the bounding polygon. Finally, it displays the map.</a:t>
            </a:r>
            <a:endParaRPr sz="2200">
              <a:solidFill>
                <a:schemeClr val="dk1"/>
              </a:solidFill>
              <a:latin typeface="Calibri"/>
              <a:ea typeface="Calibri"/>
              <a:cs typeface="Calibri"/>
              <a:sym typeface="Calibri"/>
            </a:endParaRPr>
          </a:p>
        </p:txBody>
      </p:sp>
      <p:pic>
        <p:nvPicPr>
          <p:cNvPr id="182" name="Google Shape;182;g2cf4f00742c_0_23"/>
          <p:cNvPicPr preferRelativeResize="0"/>
          <p:nvPr/>
        </p:nvPicPr>
        <p:blipFill>
          <a:blip r:embed="rId6">
            <a:alphaModFix/>
          </a:blip>
          <a:stretch>
            <a:fillRect/>
          </a:stretch>
        </p:blipFill>
        <p:spPr>
          <a:xfrm>
            <a:off x="3672199" y="4257587"/>
            <a:ext cx="6605600" cy="2443875"/>
          </a:xfrm>
          <a:prstGeom prst="rect">
            <a:avLst/>
          </a:prstGeom>
          <a:noFill/>
          <a:ln>
            <a:noFill/>
          </a:ln>
        </p:spPr>
      </p:pic>
      <p:sp>
        <p:nvSpPr>
          <p:cNvPr id="183" name="Google Shape;183;g2cf4f00742c_0_23"/>
          <p:cNvSpPr txBox="1"/>
          <p:nvPr/>
        </p:nvSpPr>
        <p:spPr>
          <a:xfrm>
            <a:off x="495875" y="1238750"/>
            <a:ext cx="2131500" cy="6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Visualization </a:t>
            </a:r>
            <a:endParaRPr b="1" sz="2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87" name="Shape 187"/>
        <p:cNvGrpSpPr/>
        <p:nvPr/>
      </p:nvGrpSpPr>
      <p:grpSpPr>
        <a:xfrm>
          <a:off x="0" y="0"/>
          <a:ext cx="0" cy="0"/>
          <a:chOff x="0" y="0"/>
          <a:chExt cx="0" cy="0"/>
        </a:xfrm>
      </p:grpSpPr>
      <p:pic>
        <p:nvPicPr>
          <p:cNvPr id="188" name="Google Shape;188;g2cf4f00742c_0_15"/>
          <p:cNvPicPr preferRelativeResize="0"/>
          <p:nvPr/>
        </p:nvPicPr>
        <p:blipFill rotWithShape="1">
          <a:blip r:embed="rId3">
            <a:alphaModFix/>
          </a:blip>
          <a:srcRect b="0" l="0" r="0" t="0"/>
          <a:stretch/>
        </p:blipFill>
        <p:spPr>
          <a:xfrm>
            <a:off x="94342" y="812799"/>
            <a:ext cx="12046854" cy="5980618"/>
          </a:xfrm>
          <a:prstGeom prst="rect">
            <a:avLst/>
          </a:prstGeom>
          <a:noFill/>
          <a:ln>
            <a:noFill/>
          </a:ln>
        </p:spPr>
      </p:pic>
      <p:sp>
        <p:nvSpPr>
          <p:cNvPr id="189" name="Google Shape;189;g2cf4f00742c_0_15"/>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190" name="Google Shape;190;g2cf4f00742c_0_15"/>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191" name="Google Shape;191;g2cf4f00742c_0_15"/>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192" name="Google Shape;192;g2cf4f00742c_0_15"/>
          <p:cNvSpPr txBox="1"/>
          <p:nvPr/>
        </p:nvSpPr>
        <p:spPr>
          <a:xfrm>
            <a:off x="455875" y="1747725"/>
            <a:ext cx="11323800" cy="5045700"/>
          </a:xfrm>
          <a:prstGeom prst="rect">
            <a:avLst/>
          </a:prstGeom>
          <a:noFill/>
          <a:ln>
            <a:noFill/>
          </a:ln>
        </p:spPr>
        <p:txBody>
          <a:bodyPr anchorCtr="0" anchor="t" bIns="91425" lIns="91425" spcFirstLastPara="1" rIns="91425" wrap="square" tIns="91425">
            <a:noAutofit/>
          </a:bodyPr>
          <a:lstStyle/>
          <a:p>
            <a:pPr indent="-381000" lvl="0" marL="457200" rtl="0" algn="just">
              <a:spcBef>
                <a:spcPts val="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This </a:t>
            </a:r>
            <a:r>
              <a:rPr lang="en-IN" sz="2400">
                <a:solidFill>
                  <a:schemeClr val="dk1"/>
                </a:solidFill>
                <a:latin typeface="Calibri"/>
                <a:ea typeface="Calibri"/>
                <a:cs typeface="Calibri"/>
                <a:sym typeface="Calibri"/>
              </a:rPr>
              <a:t>function </a:t>
            </a:r>
            <a:r>
              <a:rPr b="1" lang="en-IN" sz="2400">
                <a:solidFill>
                  <a:schemeClr val="dk1"/>
                </a:solidFill>
                <a:latin typeface="Calibri"/>
                <a:ea typeface="Calibri"/>
                <a:cs typeface="Calibri"/>
                <a:sym typeface="Calibri"/>
              </a:rPr>
              <a:t>iterates over a hierarchical HDF5 file</a:t>
            </a:r>
            <a:r>
              <a:rPr lang="en-IN" sz="2400">
                <a:solidFill>
                  <a:schemeClr val="dk1"/>
                </a:solidFill>
                <a:latin typeface="Calibri"/>
                <a:ea typeface="Calibri"/>
                <a:cs typeface="Calibri"/>
                <a:sym typeface="Calibri"/>
              </a:rPr>
              <a:t> structure, extracts information based on predefined folders and keys, and </a:t>
            </a:r>
            <a:r>
              <a:rPr b="1" lang="en-IN" sz="2400">
                <a:solidFill>
                  <a:schemeClr val="dk1"/>
                </a:solidFill>
                <a:latin typeface="Calibri"/>
                <a:ea typeface="Calibri"/>
                <a:cs typeface="Calibri"/>
                <a:sym typeface="Calibri"/>
              </a:rPr>
              <a:t>generates a list of file paths</a:t>
            </a:r>
            <a:r>
              <a:rPr lang="en-IN" sz="2400">
                <a:solidFill>
                  <a:schemeClr val="dk1"/>
                </a:solidFill>
                <a:latin typeface="Calibri"/>
                <a:ea typeface="Calibri"/>
                <a:cs typeface="Calibri"/>
                <a:sym typeface="Calibri"/>
              </a:rPr>
              <a:t> for specific TIFF files based on the extracted information. </a:t>
            </a:r>
            <a:endParaRPr sz="2400">
              <a:solidFill>
                <a:schemeClr val="dk1"/>
              </a:solidFill>
              <a:latin typeface="Calibri"/>
              <a:ea typeface="Calibri"/>
              <a:cs typeface="Calibri"/>
              <a:sym typeface="Calibri"/>
            </a:endParaRPr>
          </a:p>
          <a:p>
            <a:pPr indent="-381000" lvl="0" marL="457200" rtl="0" algn="just">
              <a:spcBef>
                <a:spcPts val="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It uses the </a:t>
            </a:r>
            <a:r>
              <a:rPr b="1" lang="en-IN" sz="2400">
                <a:solidFill>
                  <a:schemeClr val="dk1"/>
                </a:solidFill>
                <a:latin typeface="Calibri"/>
                <a:ea typeface="Calibri"/>
                <a:cs typeface="Calibri"/>
                <a:sym typeface="Calibri"/>
              </a:rPr>
              <a:t>h5py library</a:t>
            </a:r>
            <a:r>
              <a:rPr lang="en-IN" sz="2400">
                <a:solidFill>
                  <a:schemeClr val="dk1"/>
                </a:solidFill>
                <a:latin typeface="Calibri"/>
                <a:ea typeface="Calibri"/>
                <a:cs typeface="Calibri"/>
                <a:sym typeface="Calibri"/>
              </a:rPr>
              <a:t> to interact with the HDF5 file and navigate its structure.</a:t>
            </a:r>
            <a:endParaRPr sz="2400">
              <a:solidFill>
                <a:schemeClr val="dk1"/>
              </a:solidFill>
              <a:latin typeface="Calibri"/>
              <a:ea typeface="Calibri"/>
              <a:cs typeface="Calibri"/>
              <a:sym typeface="Calibri"/>
            </a:endParaRPr>
          </a:p>
          <a:p>
            <a:pPr indent="0" lvl="0" marL="457200" rtl="0" algn="just">
              <a:spcBef>
                <a:spcPts val="0"/>
              </a:spcBef>
              <a:spcAft>
                <a:spcPts val="0"/>
              </a:spcAft>
              <a:buNone/>
            </a:pPr>
            <a:r>
              <a:t/>
            </a:r>
            <a:endParaRPr sz="2400">
              <a:solidFill>
                <a:schemeClr val="dk1"/>
              </a:solidFill>
              <a:latin typeface="Calibri"/>
              <a:ea typeface="Calibri"/>
              <a:cs typeface="Calibri"/>
              <a:sym typeface="Calibri"/>
            </a:endParaRPr>
          </a:p>
        </p:txBody>
      </p:sp>
      <p:pic>
        <p:nvPicPr>
          <p:cNvPr id="193" name="Google Shape;193;g2cf4f00742c_0_15"/>
          <p:cNvPicPr preferRelativeResize="0"/>
          <p:nvPr/>
        </p:nvPicPr>
        <p:blipFill>
          <a:blip r:embed="rId6">
            <a:alphaModFix/>
          </a:blip>
          <a:stretch>
            <a:fillRect/>
          </a:stretch>
        </p:blipFill>
        <p:spPr>
          <a:xfrm>
            <a:off x="6962425" y="3807888"/>
            <a:ext cx="4220324" cy="2361974"/>
          </a:xfrm>
          <a:prstGeom prst="rect">
            <a:avLst/>
          </a:prstGeom>
          <a:noFill/>
          <a:ln>
            <a:noFill/>
          </a:ln>
        </p:spPr>
      </p:pic>
      <p:pic>
        <p:nvPicPr>
          <p:cNvPr id="194" name="Google Shape;194;g2cf4f00742c_0_15"/>
          <p:cNvPicPr preferRelativeResize="0"/>
          <p:nvPr/>
        </p:nvPicPr>
        <p:blipFill>
          <a:blip r:embed="rId7">
            <a:alphaModFix/>
          </a:blip>
          <a:stretch>
            <a:fillRect/>
          </a:stretch>
        </p:blipFill>
        <p:spPr>
          <a:xfrm>
            <a:off x="3220588" y="4204100"/>
            <a:ext cx="2676525" cy="1714500"/>
          </a:xfrm>
          <a:prstGeom prst="rect">
            <a:avLst/>
          </a:prstGeom>
          <a:noFill/>
          <a:ln>
            <a:noFill/>
          </a:ln>
        </p:spPr>
      </p:pic>
      <p:pic>
        <p:nvPicPr>
          <p:cNvPr id="195" name="Google Shape;195;g2cf4f00742c_0_15"/>
          <p:cNvPicPr preferRelativeResize="0"/>
          <p:nvPr/>
        </p:nvPicPr>
        <p:blipFill>
          <a:blip r:embed="rId8">
            <a:alphaModFix/>
          </a:blip>
          <a:stretch>
            <a:fillRect/>
          </a:stretch>
        </p:blipFill>
        <p:spPr>
          <a:xfrm>
            <a:off x="455875" y="4204014"/>
            <a:ext cx="2676523" cy="1714663"/>
          </a:xfrm>
          <a:prstGeom prst="rect">
            <a:avLst/>
          </a:prstGeom>
          <a:noFill/>
          <a:ln>
            <a:noFill/>
          </a:ln>
        </p:spPr>
      </p:pic>
      <p:sp>
        <p:nvSpPr>
          <p:cNvPr id="196" name="Google Shape;196;g2cf4f00742c_0_15"/>
          <p:cNvSpPr/>
          <p:nvPr/>
        </p:nvSpPr>
        <p:spPr>
          <a:xfrm>
            <a:off x="5962363" y="4894550"/>
            <a:ext cx="934800" cy="3336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7" name="Google Shape;197;g2cf4f00742c_0_15"/>
          <p:cNvSpPr txBox="1"/>
          <p:nvPr/>
        </p:nvSpPr>
        <p:spPr>
          <a:xfrm>
            <a:off x="636981" y="1035175"/>
            <a:ext cx="41361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HDF5 to Tiffs Conversion</a:t>
            </a:r>
            <a:endParaRPr b="1"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201" name="Shape 201"/>
        <p:cNvGrpSpPr/>
        <p:nvPr/>
      </p:nvGrpSpPr>
      <p:grpSpPr>
        <a:xfrm>
          <a:off x="0" y="0"/>
          <a:ext cx="0" cy="0"/>
          <a:chOff x="0" y="0"/>
          <a:chExt cx="0" cy="0"/>
        </a:xfrm>
      </p:grpSpPr>
      <p:pic>
        <p:nvPicPr>
          <p:cNvPr id="202" name="Google Shape;202;g2cfb69986e0_0_20"/>
          <p:cNvPicPr preferRelativeResize="0"/>
          <p:nvPr/>
        </p:nvPicPr>
        <p:blipFill rotWithShape="1">
          <a:blip r:embed="rId3">
            <a:alphaModFix/>
          </a:blip>
          <a:srcRect b="0" l="0" r="0" t="0"/>
          <a:stretch/>
        </p:blipFill>
        <p:spPr>
          <a:xfrm>
            <a:off x="94342" y="812799"/>
            <a:ext cx="12046854" cy="5980618"/>
          </a:xfrm>
          <a:prstGeom prst="rect">
            <a:avLst/>
          </a:prstGeom>
          <a:noFill/>
          <a:ln>
            <a:noFill/>
          </a:ln>
        </p:spPr>
      </p:pic>
      <p:sp>
        <p:nvSpPr>
          <p:cNvPr id="203" name="Google Shape;203;g2cfb69986e0_0_20"/>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204" name="Google Shape;204;g2cfb69986e0_0_20"/>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205" name="Google Shape;205;g2cfb69986e0_0_20"/>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206" name="Google Shape;206;g2cfb69986e0_0_20"/>
          <p:cNvSpPr txBox="1"/>
          <p:nvPr/>
        </p:nvSpPr>
        <p:spPr>
          <a:xfrm>
            <a:off x="292875" y="1093225"/>
            <a:ext cx="4668600" cy="5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a:solidFill>
                  <a:schemeClr val="dk1"/>
                </a:solidFill>
                <a:latin typeface="Calibri"/>
                <a:ea typeface="Calibri"/>
                <a:cs typeface="Calibri"/>
                <a:sym typeface="Calibri"/>
              </a:rPr>
              <a:t>SAR Data Identity Extractor</a:t>
            </a:r>
            <a:endParaRPr b="1" sz="2800">
              <a:solidFill>
                <a:schemeClr val="dk1"/>
              </a:solidFill>
              <a:latin typeface="Calibri"/>
              <a:ea typeface="Calibri"/>
              <a:cs typeface="Calibri"/>
              <a:sym typeface="Calibri"/>
            </a:endParaRPr>
          </a:p>
        </p:txBody>
      </p:sp>
      <p:sp>
        <p:nvSpPr>
          <p:cNvPr id="207" name="Google Shape;207;g2cfb69986e0_0_20"/>
          <p:cNvSpPr txBox="1"/>
          <p:nvPr/>
        </p:nvSpPr>
        <p:spPr>
          <a:xfrm>
            <a:off x="611850" y="1847175"/>
            <a:ext cx="5292000" cy="3059400"/>
          </a:xfrm>
          <a:prstGeom prst="rect">
            <a:avLst/>
          </a:prstGeom>
          <a:noFill/>
          <a:ln>
            <a:noFill/>
          </a:ln>
        </p:spPr>
        <p:txBody>
          <a:bodyPr anchorCtr="0" anchor="t" bIns="91425" lIns="91425" spcFirstLastPara="1" rIns="91425" wrap="square" tIns="91425">
            <a:noAutofit/>
          </a:bodyPr>
          <a:lstStyle/>
          <a:p>
            <a:pPr indent="-393700" lvl="0" marL="457200" rtl="0" algn="just">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The extracted data includes orbit number, bounding polygon, and processing details, presented as a dictionary. </a:t>
            </a:r>
            <a:endParaRPr sz="2600">
              <a:solidFill>
                <a:schemeClr val="dk1"/>
              </a:solidFill>
              <a:latin typeface="Calibri"/>
              <a:ea typeface="Calibri"/>
              <a:cs typeface="Calibri"/>
              <a:sym typeface="Calibri"/>
            </a:endParaRPr>
          </a:p>
          <a:p>
            <a:pPr indent="0" lvl="0" marL="0" rtl="0" algn="just">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just">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This process is crucial for obtaining metadata essential for processing and comprehending SAR satellite data.</a:t>
            </a:r>
            <a:endParaRPr sz="2600">
              <a:solidFill>
                <a:schemeClr val="dk1"/>
              </a:solidFill>
              <a:latin typeface="Calibri"/>
              <a:ea typeface="Calibri"/>
              <a:cs typeface="Calibri"/>
              <a:sym typeface="Calibri"/>
            </a:endParaRPr>
          </a:p>
        </p:txBody>
      </p:sp>
      <p:pic>
        <p:nvPicPr>
          <p:cNvPr id="208" name="Google Shape;208;g2cfb69986e0_0_20"/>
          <p:cNvPicPr preferRelativeResize="0"/>
          <p:nvPr/>
        </p:nvPicPr>
        <p:blipFill>
          <a:blip r:embed="rId6">
            <a:alphaModFix/>
          </a:blip>
          <a:stretch>
            <a:fillRect/>
          </a:stretch>
        </p:blipFill>
        <p:spPr>
          <a:xfrm>
            <a:off x="5903850" y="1062650"/>
            <a:ext cx="6121224" cy="54809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212" name="Shape 212"/>
        <p:cNvGrpSpPr/>
        <p:nvPr/>
      </p:nvGrpSpPr>
      <p:grpSpPr>
        <a:xfrm>
          <a:off x="0" y="0"/>
          <a:ext cx="0" cy="0"/>
          <a:chOff x="0" y="0"/>
          <a:chExt cx="0" cy="0"/>
        </a:xfrm>
      </p:grpSpPr>
      <p:pic>
        <p:nvPicPr>
          <p:cNvPr id="213" name="Google Shape;213;g26f771519f9_0_0"/>
          <p:cNvPicPr preferRelativeResize="0"/>
          <p:nvPr/>
        </p:nvPicPr>
        <p:blipFill rotWithShape="1">
          <a:blip r:embed="rId3">
            <a:alphaModFix/>
          </a:blip>
          <a:srcRect b="0" l="0" r="0" t="0"/>
          <a:stretch/>
        </p:blipFill>
        <p:spPr>
          <a:xfrm>
            <a:off x="94342" y="812799"/>
            <a:ext cx="12046854" cy="5980618"/>
          </a:xfrm>
          <a:prstGeom prst="rect">
            <a:avLst/>
          </a:prstGeom>
          <a:noFill/>
          <a:ln>
            <a:noFill/>
          </a:ln>
        </p:spPr>
      </p:pic>
      <p:sp>
        <p:nvSpPr>
          <p:cNvPr id="214" name="Google Shape;214;g26f771519f9_0_0"/>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215" name="Google Shape;215;g26f771519f9_0_0"/>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216" name="Google Shape;216;g26f771519f9_0_0"/>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217" name="Google Shape;217;g26f771519f9_0_0"/>
          <p:cNvSpPr txBox="1"/>
          <p:nvPr/>
        </p:nvSpPr>
        <p:spPr>
          <a:xfrm>
            <a:off x="754400" y="2005225"/>
            <a:ext cx="10822200" cy="42837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Problem Addressed:</a:t>
            </a:r>
            <a:r>
              <a:rPr lang="en-IN" sz="1800">
                <a:solidFill>
                  <a:schemeClr val="dk1"/>
                </a:solidFill>
                <a:latin typeface="Times New Roman"/>
                <a:ea typeface="Times New Roman"/>
                <a:cs typeface="Times New Roman"/>
                <a:sym typeface="Times New Roman"/>
              </a:rPr>
              <a:t> GeoLens addresses the limitations of the existing data production system by enabling real-time GIS operations on archived data.</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Key Features:</a:t>
            </a:r>
            <a:r>
              <a:rPr lang="en-IN" sz="1800">
                <a:solidFill>
                  <a:schemeClr val="dk1"/>
                </a:solidFill>
                <a:latin typeface="Times New Roman"/>
                <a:ea typeface="Times New Roman"/>
                <a:cs typeface="Times New Roman"/>
                <a:sym typeface="Times New Roman"/>
              </a:rPr>
              <a:t> GeoLens offers a wide range of features, including metadata reading, subset creation, merging, masking by shapefiles, tiling, and data saving.</a:t>
            </a:r>
            <a:endParaRPr sz="18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User Accessibility:</a:t>
            </a:r>
            <a:r>
              <a:rPr lang="en-IN" sz="1800">
                <a:solidFill>
                  <a:schemeClr val="dk1"/>
                </a:solidFill>
                <a:latin typeface="Times New Roman"/>
                <a:ea typeface="Times New Roman"/>
                <a:cs typeface="Times New Roman"/>
                <a:sym typeface="Times New Roman"/>
              </a:rPr>
              <a:t> By simplifying geospatial data tasks, GeoLens makes them accessible to researchers, professionals, and policymakers.</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b="1" lang="en-IN" sz="1800">
                <a:solidFill>
                  <a:schemeClr val="dk1"/>
                </a:solidFill>
                <a:latin typeface="Times New Roman"/>
                <a:ea typeface="Times New Roman"/>
                <a:cs typeface="Times New Roman"/>
                <a:sym typeface="Times New Roman"/>
              </a:rPr>
              <a:t>Impact:</a:t>
            </a:r>
            <a:r>
              <a:rPr lang="en-IN" sz="1800">
                <a:solidFill>
                  <a:schemeClr val="dk1"/>
                </a:solidFill>
                <a:latin typeface="Times New Roman"/>
                <a:ea typeface="Times New Roman"/>
                <a:cs typeface="Times New Roman"/>
                <a:sym typeface="Times New Roman"/>
              </a:rPr>
              <a:t> GeoLens has the potential to revolutionize geospatial data processing and analysis, offering a cost-effective and user-friendly solution for a wide range of users.</a:t>
            </a:r>
            <a:endParaRPr sz="1800">
              <a:solidFill>
                <a:schemeClr val="dk1"/>
              </a:solidFill>
              <a:latin typeface="Times New Roman"/>
              <a:ea typeface="Times New Roman"/>
              <a:cs typeface="Times New Roman"/>
              <a:sym typeface="Times New Roman"/>
            </a:endParaRPr>
          </a:p>
        </p:txBody>
      </p:sp>
      <p:sp>
        <p:nvSpPr>
          <p:cNvPr id="218" name="Google Shape;218;g26f771519f9_0_0"/>
          <p:cNvSpPr txBox="1"/>
          <p:nvPr/>
        </p:nvSpPr>
        <p:spPr>
          <a:xfrm>
            <a:off x="620175" y="1254625"/>
            <a:ext cx="5066400" cy="750600"/>
          </a:xfrm>
          <a:prstGeom prst="rect">
            <a:avLst/>
          </a:prstGeom>
          <a:noFill/>
          <a:ln>
            <a:noFill/>
          </a:ln>
        </p:spPr>
        <p:txBody>
          <a:bodyPr anchorCtr="0" anchor="t" bIns="91425" lIns="91425" spcFirstLastPara="1" rIns="91425" wrap="square" tIns="91425">
            <a:noAutofit/>
          </a:bodyPr>
          <a:lstStyle/>
          <a:p>
            <a:pPr indent="-82550" lvl="0" marL="82550" marR="6350" rtl="0" algn="just">
              <a:lnSpc>
                <a:spcPct val="150000"/>
              </a:lnSpc>
              <a:spcBef>
                <a:spcPts val="0"/>
              </a:spcBef>
              <a:spcAft>
                <a:spcPts val="0"/>
              </a:spcAft>
              <a:buClr>
                <a:schemeClr val="dk1"/>
              </a:buClr>
              <a:buFont typeface="Arial"/>
              <a:buNone/>
            </a:pPr>
            <a:r>
              <a:rPr b="1" lang="en-IN" sz="3200">
                <a:solidFill>
                  <a:schemeClr val="dk1"/>
                </a:solidFill>
                <a:latin typeface="Times New Roman"/>
                <a:ea typeface="Times New Roman"/>
                <a:cs typeface="Times New Roman"/>
                <a:sym typeface="Times New Roman"/>
              </a:rPr>
              <a:t>Conclusion </a:t>
            </a:r>
            <a:r>
              <a:rPr lang="en-IN" sz="3200">
                <a:solidFill>
                  <a:schemeClr val="dk1"/>
                </a:solidFill>
                <a:latin typeface="Times New Roman"/>
                <a:ea typeface="Times New Roman"/>
                <a:cs typeface="Times New Roman"/>
                <a:sym typeface="Times New Roman"/>
              </a:rPr>
              <a:t> </a:t>
            </a:r>
            <a:endParaRPr sz="2800">
              <a:solidFill>
                <a:schemeClr val="dk1"/>
              </a:solidFill>
              <a:latin typeface="Calibri"/>
              <a:ea typeface="Calibri"/>
              <a:cs typeface="Calibri"/>
              <a:sym typeface="Calibri"/>
            </a:endParaRPr>
          </a:p>
        </p:txBody>
      </p:sp>
      <p:sp>
        <p:nvSpPr>
          <p:cNvPr id="219" name="Google Shape;219;g26f771519f9_0_0"/>
          <p:cNvSpPr txBox="1"/>
          <p:nvPr/>
        </p:nvSpPr>
        <p:spPr>
          <a:xfrm>
            <a:off x="3366650" y="5689375"/>
            <a:ext cx="45000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3700">
                <a:solidFill>
                  <a:srgbClr val="351C75"/>
                </a:solidFill>
                <a:latin typeface="Comic Sans MS"/>
                <a:ea typeface="Comic Sans MS"/>
                <a:cs typeface="Comic Sans MS"/>
                <a:sym typeface="Comic Sans MS"/>
              </a:rPr>
              <a:t>THANK YOU</a:t>
            </a:r>
            <a:endParaRPr b="1" sz="3700">
              <a:solidFill>
                <a:srgbClr val="351C75"/>
              </a:solidFill>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223" name="Shape 223"/>
        <p:cNvGrpSpPr/>
        <p:nvPr/>
      </p:nvGrpSpPr>
      <p:grpSpPr>
        <a:xfrm>
          <a:off x="0" y="0"/>
          <a:ext cx="0" cy="0"/>
          <a:chOff x="0" y="0"/>
          <a:chExt cx="0" cy="0"/>
        </a:xfrm>
      </p:grpSpPr>
      <p:pic>
        <p:nvPicPr>
          <p:cNvPr id="224" name="Google Shape;224;g26f771519f9_0_39"/>
          <p:cNvPicPr preferRelativeResize="0"/>
          <p:nvPr/>
        </p:nvPicPr>
        <p:blipFill rotWithShape="1">
          <a:blip r:embed="rId3">
            <a:alphaModFix/>
          </a:blip>
          <a:srcRect b="0" l="0" r="0" t="0"/>
          <a:stretch/>
        </p:blipFill>
        <p:spPr>
          <a:xfrm>
            <a:off x="94342" y="812799"/>
            <a:ext cx="12046854" cy="5980618"/>
          </a:xfrm>
          <a:prstGeom prst="rect">
            <a:avLst/>
          </a:prstGeom>
          <a:noFill/>
          <a:ln>
            <a:noFill/>
          </a:ln>
        </p:spPr>
      </p:pic>
      <p:sp>
        <p:nvSpPr>
          <p:cNvPr id="225" name="Google Shape;225;g26f771519f9_0_39"/>
          <p:cNvSpPr txBox="1"/>
          <p:nvPr/>
        </p:nvSpPr>
        <p:spPr>
          <a:xfrm>
            <a:off x="4847773" y="150677"/>
            <a:ext cx="301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Calibri"/>
                <a:ea typeface="Calibri"/>
                <a:cs typeface="Calibri"/>
                <a:sym typeface="Calibri"/>
              </a:rPr>
              <a:t>ICAMADA 2024</a:t>
            </a:r>
            <a:endParaRPr/>
          </a:p>
        </p:txBody>
      </p:sp>
      <p:pic>
        <p:nvPicPr>
          <p:cNvPr id="226" name="Google Shape;226;g26f771519f9_0_39"/>
          <p:cNvPicPr preferRelativeResize="0"/>
          <p:nvPr/>
        </p:nvPicPr>
        <p:blipFill rotWithShape="1">
          <a:blip r:embed="rId4">
            <a:alphaModFix/>
          </a:blip>
          <a:srcRect b="0" l="0" r="0" t="0"/>
          <a:stretch/>
        </p:blipFill>
        <p:spPr>
          <a:xfrm>
            <a:off x="166914" y="64584"/>
            <a:ext cx="624114" cy="695406"/>
          </a:xfrm>
          <a:prstGeom prst="rect">
            <a:avLst/>
          </a:prstGeom>
          <a:noFill/>
          <a:ln>
            <a:noFill/>
          </a:ln>
        </p:spPr>
      </p:pic>
      <p:pic>
        <p:nvPicPr>
          <p:cNvPr id="227" name="Google Shape;227;g26f771519f9_0_39"/>
          <p:cNvPicPr preferRelativeResize="0"/>
          <p:nvPr/>
        </p:nvPicPr>
        <p:blipFill rotWithShape="1">
          <a:blip r:embed="rId5">
            <a:alphaModFix/>
          </a:blip>
          <a:srcRect b="0" l="0" r="0" t="0"/>
          <a:stretch/>
        </p:blipFill>
        <p:spPr>
          <a:xfrm>
            <a:off x="11385727" y="84972"/>
            <a:ext cx="639359" cy="639359"/>
          </a:xfrm>
          <a:prstGeom prst="rect">
            <a:avLst/>
          </a:prstGeom>
          <a:noFill/>
          <a:ln cap="flat" cmpd="sng" w="9525">
            <a:solidFill>
              <a:schemeClr val="lt1"/>
            </a:solidFill>
            <a:prstDash val="solid"/>
            <a:round/>
            <a:headEnd len="sm" w="sm" type="none"/>
            <a:tailEnd len="sm" w="sm" type="none"/>
          </a:ln>
          <a:effectLst>
            <a:outerShdw blurRad="190500" rotWithShape="0" algn="tl">
              <a:srgbClr val="000000">
                <a:alpha val="69800"/>
              </a:srgbClr>
            </a:outerShdw>
          </a:effectLst>
        </p:spPr>
      </p:pic>
      <p:sp>
        <p:nvSpPr>
          <p:cNvPr id="228" name="Google Shape;228;g26f771519f9_0_39"/>
          <p:cNvSpPr txBox="1"/>
          <p:nvPr/>
        </p:nvSpPr>
        <p:spPr>
          <a:xfrm>
            <a:off x="263225" y="1025775"/>
            <a:ext cx="2204400" cy="750600"/>
          </a:xfrm>
          <a:prstGeom prst="rect">
            <a:avLst/>
          </a:prstGeom>
          <a:noFill/>
          <a:ln>
            <a:noFill/>
          </a:ln>
        </p:spPr>
        <p:txBody>
          <a:bodyPr anchorCtr="0" anchor="t" bIns="91425" lIns="91425" spcFirstLastPara="1" rIns="91425" wrap="square" tIns="91425">
            <a:noAutofit/>
          </a:bodyPr>
          <a:lstStyle/>
          <a:p>
            <a:pPr indent="-82550" lvl="0" marL="82550" marR="6350" rtl="0" algn="just">
              <a:lnSpc>
                <a:spcPct val="150000"/>
              </a:lnSpc>
              <a:spcBef>
                <a:spcPts val="0"/>
              </a:spcBef>
              <a:spcAft>
                <a:spcPts val="0"/>
              </a:spcAft>
              <a:buNone/>
            </a:pPr>
            <a:r>
              <a:rPr b="1" lang="en-IN" sz="3200">
                <a:solidFill>
                  <a:schemeClr val="dk1"/>
                </a:solidFill>
                <a:latin typeface="Times New Roman"/>
                <a:ea typeface="Times New Roman"/>
                <a:cs typeface="Times New Roman"/>
                <a:sym typeface="Times New Roman"/>
              </a:rPr>
              <a:t>References</a:t>
            </a:r>
            <a:endParaRPr b="1"/>
          </a:p>
        </p:txBody>
      </p:sp>
      <p:sp>
        <p:nvSpPr>
          <p:cNvPr id="229" name="Google Shape;229;g26f771519f9_0_39"/>
          <p:cNvSpPr txBox="1"/>
          <p:nvPr/>
        </p:nvSpPr>
        <p:spPr>
          <a:xfrm>
            <a:off x="638475" y="1693975"/>
            <a:ext cx="11212500" cy="4933500"/>
          </a:xfrm>
          <a:prstGeom prst="rect">
            <a:avLst/>
          </a:prstGeom>
          <a:noFill/>
          <a:ln>
            <a:noFill/>
          </a:ln>
        </p:spPr>
        <p:txBody>
          <a:bodyPr anchorCtr="0" anchor="t" bIns="91425" lIns="91425" spcFirstLastPara="1" rIns="91425" wrap="square" tIns="91425">
            <a:noAutofit/>
          </a:bodyPr>
          <a:lstStyle/>
          <a:p>
            <a:pPr indent="-252095" lvl="0" marL="252095" rtl="0" algn="just">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[1</a:t>
            </a:r>
            <a:r>
              <a:rPr lang="en-IN">
                <a:solidFill>
                  <a:schemeClr val="dk1"/>
                </a:solidFill>
                <a:latin typeface="Times New Roman"/>
                <a:ea typeface="Times New Roman"/>
                <a:cs typeface="Times New Roman"/>
                <a:sym typeface="Times New Roman"/>
              </a:rPr>
              <a:t>]   D. Solarna, L. Maggiolo, G. Moser and S. B. Serpico, "A Tiling-Based Strategy for Large-Scale Multisensor Optical-Sar Image Registration," IGARSS 2022 - 2022 IEEE International Geoscience and Remote Sensing Symposium, Kuala Lumpur, Malaysia, 2022, pp. 127-130, doi: 10.1109/IGARSS46834.2022.9884048</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[2]  L. Diaz, C. Martin, M. Gould, C. Granell and M. A. Manso, "Semi-automatic metadata extraction from imagery and cartographic data," 2007 IEEE International Geoscience and Remote Sensing Symposium, Barcelona, Spain, 2007, pp. 3051-3052, doi: 10.1109/IGARSS.2007.4423488.</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[3]	Norzin, A. F., &amp; Daliman, S. (2022). Assessing Land Use and Land Cover Change Analysis Using Remote Sensing In Kota Bharu, Kelantan. </a:t>
            </a:r>
            <a:r>
              <a:rPr i="1" lang="en-IN">
                <a:solidFill>
                  <a:schemeClr val="dk1"/>
                </a:solidFill>
                <a:latin typeface="Times New Roman"/>
                <a:ea typeface="Times New Roman"/>
                <a:cs typeface="Times New Roman"/>
                <a:sym typeface="Times New Roman"/>
              </a:rPr>
              <a:t>IOP Conference Series: Earth and Environmental Science</a:t>
            </a:r>
            <a:r>
              <a:rPr lang="en-IN">
                <a:solidFill>
                  <a:schemeClr val="dk1"/>
                </a:solidFill>
                <a:latin typeface="Times New Roman"/>
                <a:ea typeface="Times New Roman"/>
                <a:cs typeface="Times New Roman"/>
                <a:sym typeface="Times New Roman"/>
              </a:rPr>
              <a:t>, </a:t>
            </a:r>
            <a:r>
              <a:rPr i="1" lang="en-IN">
                <a:solidFill>
                  <a:schemeClr val="dk1"/>
                </a:solidFill>
                <a:latin typeface="Times New Roman"/>
                <a:ea typeface="Times New Roman"/>
                <a:cs typeface="Times New Roman"/>
                <a:sym typeface="Times New Roman"/>
              </a:rPr>
              <a:t>1102</a:t>
            </a:r>
            <a:r>
              <a:rPr lang="en-IN">
                <a:solidFill>
                  <a:schemeClr val="dk1"/>
                </a:solidFill>
                <a:latin typeface="Times New Roman"/>
                <a:ea typeface="Times New Roman"/>
                <a:cs typeface="Times New Roman"/>
                <a:sym typeface="Times New Roman"/>
              </a:rPr>
              <a:t>(1). https://doi.org/10.1088/1755-1315/1102/1/012079.</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[4]  Elhag, M., Gitas, I., Othman, A., Bahrawi, J., &amp; Gikas, P. (2019). Assessment of water quality parameters using temporal remote sensing spectral reflectance in arid environments, Saudi Arabia. </a:t>
            </a:r>
            <a:r>
              <a:rPr i="1" lang="en-IN">
                <a:solidFill>
                  <a:schemeClr val="dk1"/>
                </a:solidFill>
                <a:latin typeface="Times New Roman"/>
                <a:ea typeface="Times New Roman"/>
                <a:cs typeface="Times New Roman"/>
                <a:sym typeface="Times New Roman"/>
              </a:rPr>
              <a:t>Water (Switzerland)</a:t>
            </a:r>
            <a:r>
              <a:rPr lang="en-IN">
                <a:solidFill>
                  <a:schemeClr val="dk1"/>
                </a:solidFill>
                <a:latin typeface="Times New Roman"/>
                <a:ea typeface="Times New Roman"/>
                <a:cs typeface="Times New Roman"/>
                <a:sym typeface="Times New Roman"/>
              </a:rPr>
              <a:t>, </a:t>
            </a:r>
            <a:r>
              <a:rPr i="1" lang="en-IN">
                <a:solidFill>
                  <a:schemeClr val="dk1"/>
                </a:solidFill>
                <a:latin typeface="Times New Roman"/>
                <a:ea typeface="Times New Roman"/>
                <a:cs typeface="Times New Roman"/>
                <a:sym typeface="Times New Roman"/>
              </a:rPr>
              <a:t>11</a:t>
            </a:r>
            <a:r>
              <a:rPr lang="en-IN">
                <a:solidFill>
                  <a:schemeClr val="dk1"/>
                </a:solidFill>
                <a:latin typeface="Times New Roman"/>
                <a:ea typeface="Times New Roman"/>
                <a:cs typeface="Times New Roman"/>
                <a:sym typeface="Times New Roman"/>
              </a:rPr>
              <a:t>(3). https://doi.org/10.3390/w11030556.</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[5]  Haag, S., Tarboton, D., Smith, M., &amp; Shokoufandeh, A. (2020). Fast summarizing algorithm for polygonal statistics over a regular grid. </a:t>
            </a:r>
            <a:r>
              <a:rPr i="1" lang="en-IN">
                <a:solidFill>
                  <a:schemeClr val="dk1"/>
                </a:solidFill>
                <a:latin typeface="Times New Roman"/>
                <a:ea typeface="Times New Roman"/>
                <a:cs typeface="Times New Roman"/>
                <a:sym typeface="Times New Roman"/>
              </a:rPr>
              <a:t>Computers and Geosciences</a:t>
            </a:r>
            <a:r>
              <a:rPr lang="en-IN">
                <a:solidFill>
                  <a:schemeClr val="dk1"/>
                </a:solidFill>
                <a:latin typeface="Times New Roman"/>
                <a:ea typeface="Times New Roman"/>
                <a:cs typeface="Times New Roman"/>
                <a:sym typeface="Times New Roman"/>
              </a:rPr>
              <a:t>, </a:t>
            </a:r>
            <a:r>
              <a:rPr i="1" lang="en-IN">
                <a:solidFill>
                  <a:schemeClr val="dk1"/>
                </a:solidFill>
                <a:latin typeface="Times New Roman"/>
                <a:ea typeface="Times New Roman"/>
                <a:cs typeface="Times New Roman"/>
                <a:sym typeface="Times New Roman"/>
              </a:rPr>
              <a:t>142</a:t>
            </a:r>
            <a:r>
              <a:rPr lang="en-IN">
                <a:solidFill>
                  <a:schemeClr val="dk1"/>
                </a:solidFill>
                <a:latin typeface="Times New Roman"/>
                <a:ea typeface="Times New Roman"/>
                <a:cs typeface="Times New Roman"/>
                <a:sym typeface="Times New Roman"/>
              </a:rPr>
              <a:t>. </a:t>
            </a:r>
            <a:r>
              <a:rPr lang="en-IN" u="sng">
                <a:solidFill>
                  <a:schemeClr val="hlink"/>
                </a:solidFill>
                <a:latin typeface="Times New Roman"/>
                <a:ea typeface="Times New Roman"/>
                <a:cs typeface="Times New Roman"/>
                <a:sym typeface="Times New Roman"/>
                <a:hlinkClick r:id="rId6"/>
              </a:rPr>
              <a:t>https://doi.org/10.1016/j.cageo.2020.104524</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[6]  Namdar, M., Adamowski, J., Saadat, H., Sharifi, F., &amp; Khiri, A. (2014). Land-use and land-cover classification in semi-arid regions using independent component analysis (ICA) and expert classification. </a:t>
            </a:r>
            <a:r>
              <a:rPr i="1" lang="en-IN">
                <a:solidFill>
                  <a:schemeClr val="dk1"/>
                </a:solidFill>
                <a:latin typeface="Times New Roman"/>
                <a:ea typeface="Times New Roman"/>
                <a:cs typeface="Times New Roman"/>
                <a:sym typeface="Times New Roman"/>
              </a:rPr>
              <a:t>International Journal of Remote Sensing</a:t>
            </a:r>
            <a:r>
              <a:rPr lang="en-IN">
                <a:solidFill>
                  <a:schemeClr val="dk1"/>
                </a:solidFill>
                <a:latin typeface="Times New Roman"/>
                <a:ea typeface="Times New Roman"/>
                <a:cs typeface="Times New Roman"/>
                <a:sym typeface="Times New Roman"/>
              </a:rPr>
              <a:t>, </a:t>
            </a:r>
            <a:r>
              <a:rPr i="1" lang="en-IN">
                <a:solidFill>
                  <a:schemeClr val="dk1"/>
                </a:solidFill>
                <a:latin typeface="Times New Roman"/>
                <a:ea typeface="Times New Roman"/>
                <a:cs typeface="Times New Roman"/>
                <a:sym typeface="Times New Roman"/>
              </a:rPr>
              <a:t>35</a:t>
            </a:r>
            <a:r>
              <a:rPr lang="en-IN">
                <a:solidFill>
                  <a:schemeClr val="dk1"/>
                </a:solidFill>
                <a:latin typeface="Times New Roman"/>
                <a:ea typeface="Times New Roman"/>
                <a:cs typeface="Times New Roman"/>
                <a:sym typeface="Times New Roman"/>
              </a:rPr>
              <a:t>(24). https://doi.org/10.1080/01431161.2014.978035.</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[7]  Reina, G. A., Panchumarthy, R., Thakur, S. P., Bastidas, A., &amp; Bakas, S. (2020). Systematic Evaluation of Image Tiling Adverse Effects on Deep Learning Semantic Segmentation. </a:t>
            </a:r>
            <a:r>
              <a:rPr i="1" lang="en-IN">
                <a:solidFill>
                  <a:schemeClr val="dk1"/>
                </a:solidFill>
                <a:latin typeface="Times New Roman"/>
                <a:ea typeface="Times New Roman"/>
                <a:cs typeface="Times New Roman"/>
                <a:sym typeface="Times New Roman"/>
              </a:rPr>
              <a:t>Frontiers in Neuroscience</a:t>
            </a:r>
            <a:r>
              <a:rPr lang="en-IN">
                <a:solidFill>
                  <a:schemeClr val="dk1"/>
                </a:solidFill>
                <a:latin typeface="Times New Roman"/>
                <a:ea typeface="Times New Roman"/>
                <a:cs typeface="Times New Roman"/>
                <a:sym typeface="Times New Roman"/>
              </a:rPr>
              <a:t>, </a:t>
            </a:r>
            <a:r>
              <a:rPr i="1" lang="en-IN">
                <a:solidFill>
                  <a:schemeClr val="dk1"/>
                </a:solidFill>
                <a:latin typeface="Times New Roman"/>
                <a:ea typeface="Times New Roman"/>
                <a:cs typeface="Times New Roman"/>
                <a:sym typeface="Times New Roman"/>
              </a:rPr>
              <a:t>14</a:t>
            </a:r>
            <a:r>
              <a:rPr lang="en-IN">
                <a:solidFill>
                  <a:schemeClr val="dk1"/>
                </a:solidFill>
                <a:latin typeface="Times New Roman"/>
                <a:ea typeface="Times New Roman"/>
                <a:cs typeface="Times New Roman"/>
                <a:sym typeface="Times New Roman"/>
              </a:rPr>
              <a:t>. https://doi.org/10.3389/fnins.2020.00065.</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[8] Sayar, A., Eken, S., &amp; Mert, U. (2014). Tiling of Satellite Images to Capture an Island Object. </a:t>
            </a:r>
            <a:r>
              <a:rPr i="1" lang="en-IN">
                <a:solidFill>
                  <a:schemeClr val="dk1"/>
                </a:solidFill>
                <a:latin typeface="Times New Roman"/>
                <a:ea typeface="Times New Roman"/>
                <a:cs typeface="Times New Roman"/>
                <a:sym typeface="Times New Roman"/>
              </a:rPr>
              <a:t>Communications in Computer and Information Science</a:t>
            </a:r>
            <a:r>
              <a:rPr lang="en-IN">
                <a:solidFill>
                  <a:schemeClr val="dk1"/>
                </a:solidFill>
                <a:latin typeface="Times New Roman"/>
                <a:ea typeface="Times New Roman"/>
                <a:cs typeface="Times New Roman"/>
                <a:sym typeface="Times New Roman"/>
              </a:rPr>
              <a:t>, </a:t>
            </a:r>
            <a:r>
              <a:rPr i="1" lang="en-IN">
                <a:solidFill>
                  <a:schemeClr val="dk1"/>
                </a:solidFill>
                <a:latin typeface="Times New Roman"/>
                <a:ea typeface="Times New Roman"/>
                <a:cs typeface="Times New Roman"/>
                <a:sym typeface="Times New Roman"/>
              </a:rPr>
              <a:t>459 CCIS</a:t>
            </a:r>
            <a:r>
              <a:rPr lang="en-IN">
                <a:solidFill>
                  <a:schemeClr val="dk1"/>
                </a:solidFill>
                <a:latin typeface="Times New Roman"/>
                <a:ea typeface="Times New Roman"/>
                <a:cs typeface="Times New Roman"/>
                <a:sym typeface="Times New Roman"/>
              </a:rPr>
              <a:t>. https://doi.org/10.1007/978-3-319-11071-419.</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[9]	Wojtaszek, M. V., Ronczyk, L., Mamatkulov, Z., &amp; Reimov, M. (2021). Object-based approach for urban land cover mapping using high spatial resolution data. </a:t>
            </a:r>
            <a:r>
              <a:rPr i="1" lang="en-IN">
                <a:solidFill>
                  <a:schemeClr val="dk1"/>
                </a:solidFill>
                <a:latin typeface="Times New Roman"/>
                <a:ea typeface="Times New Roman"/>
                <a:cs typeface="Times New Roman"/>
                <a:sym typeface="Times New Roman"/>
              </a:rPr>
              <a:t>E3S Web of Conferences</a:t>
            </a:r>
            <a:r>
              <a:rPr lang="en-IN">
                <a:solidFill>
                  <a:schemeClr val="dk1"/>
                </a:solidFill>
                <a:latin typeface="Times New Roman"/>
                <a:ea typeface="Times New Roman"/>
                <a:cs typeface="Times New Roman"/>
                <a:sym typeface="Times New Roman"/>
              </a:rPr>
              <a:t>, </a:t>
            </a:r>
            <a:r>
              <a:rPr i="1" lang="en-IN">
                <a:solidFill>
                  <a:schemeClr val="dk1"/>
                </a:solidFill>
                <a:latin typeface="Times New Roman"/>
                <a:ea typeface="Times New Roman"/>
                <a:cs typeface="Times New Roman"/>
                <a:sym typeface="Times New Roman"/>
              </a:rPr>
              <a:t>227</a:t>
            </a:r>
            <a:r>
              <a:rPr lang="en-IN">
                <a:solidFill>
                  <a:schemeClr val="dk1"/>
                </a:solidFill>
                <a:latin typeface="Times New Roman"/>
                <a:ea typeface="Times New Roman"/>
                <a:cs typeface="Times New Roman"/>
                <a:sym typeface="Times New Roman"/>
              </a:rPr>
              <a:t>. https://doi.org/10.1051/e3sconf/202122701001.</a:t>
            </a:r>
            <a:endParaRPr>
              <a:solidFill>
                <a:schemeClr val="dk1"/>
              </a:solidFill>
              <a:latin typeface="Times New Roman"/>
              <a:ea typeface="Times New Roman"/>
              <a:cs typeface="Times New Roman"/>
              <a:sym typeface="Times New Roman"/>
            </a:endParaRPr>
          </a:p>
          <a:p>
            <a:pPr indent="-252095" lvl="0" marL="252095" rtl="0" algn="just">
              <a:spcBef>
                <a:spcPts val="200"/>
              </a:spcBef>
              <a:spcAft>
                <a:spcPts val="0"/>
              </a:spcAft>
              <a:buClr>
                <a:schemeClr val="dk1"/>
              </a:buClr>
              <a:buSzPts val="1100"/>
              <a:buFont typeface="Arial"/>
              <a:buNone/>
            </a:pPr>
            <a:r>
              <a:t/>
            </a:r>
            <a:endParaRPr sz="1900">
              <a:solidFill>
                <a:schemeClr val="dk1"/>
              </a:solidFill>
              <a:latin typeface="Times New Roman"/>
              <a:ea typeface="Times New Roman"/>
              <a:cs typeface="Times New Roman"/>
              <a:sym typeface="Times New Roman"/>
            </a:endParaRPr>
          </a:p>
          <a:p>
            <a:pPr indent="0" lvl="0" marL="0" rtl="0" algn="l">
              <a:spcBef>
                <a:spcPts val="200"/>
              </a:spcBef>
              <a:spcAft>
                <a:spcPts val="0"/>
              </a:spcAft>
              <a:buClr>
                <a:schemeClr val="dk1"/>
              </a:buClr>
              <a:buSzPts val="1100"/>
              <a:buFont typeface="Arial"/>
              <a:buNone/>
            </a:pPr>
            <a:r>
              <a:t/>
            </a:r>
            <a:endParaRPr sz="1900">
              <a:solidFill>
                <a:schemeClr val="dk1"/>
              </a:solidFill>
              <a:latin typeface="Times New Roman"/>
              <a:ea typeface="Times New Roman"/>
              <a:cs typeface="Times New Roman"/>
              <a:sym typeface="Times New Roman"/>
            </a:endParaRPr>
          </a:p>
          <a:p>
            <a:pPr indent="-252095" lvl="0" marL="252095" rtl="0" algn="just">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2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2023-12-11T07:19:24Z</dcterms:created>
  <dc:creator>Asma Tahseen Mrs</dc:creator>
</cp:coreProperties>
</file>